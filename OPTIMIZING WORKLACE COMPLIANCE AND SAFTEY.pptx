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97" r:id="rId2"/>
    <p:sldId id="299" r:id="rId3"/>
    <p:sldId id="300" r:id="rId4"/>
    <p:sldId id="301" r:id="rId5"/>
    <p:sldId id="322" r:id="rId6"/>
    <p:sldId id="302" r:id="rId7"/>
    <p:sldId id="321" r:id="rId8"/>
    <p:sldId id="303" r:id="rId9"/>
    <p:sldId id="304" r:id="rId10"/>
    <p:sldId id="305" r:id="rId11"/>
    <p:sldId id="306" r:id="rId12"/>
    <p:sldId id="317" r:id="rId13"/>
    <p:sldId id="323" r:id="rId14"/>
    <p:sldId id="324" r:id="rId15"/>
    <p:sldId id="325" r:id="rId16"/>
    <p:sldId id="326" r:id="rId17"/>
    <p:sldId id="327" r:id="rId18"/>
    <p:sldId id="328" r:id="rId19"/>
    <p:sldId id="29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zPzfW/Eqj5INjXEMP3JF+w7YJ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2D7396-3E8A-4C48-A43C-EBEA59809495}">
  <a:tblStyle styleId="{2C2D7396-3E8A-4C48-A43C-EBEA598094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25" autoAdjust="0"/>
  </p:normalViewPr>
  <p:slideViewPr>
    <p:cSldViewPr snapToGrid="0">
      <p:cViewPr>
        <p:scale>
          <a:sx n="70" d="100"/>
          <a:sy n="70" d="100"/>
        </p:scale>
        <p:origin x="714" y="-54"/>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7664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2B58-F258-1001-FF2A-382C885F9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C8194-03D9-3DFD-79D9-9B62F1214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8D46E-28F6-A42A-C74C-2503F41A83E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DD62B6E-A99E-6C0F-4026-B32E9F06514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154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9"/>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9"/>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9"/>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9"/>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831851" y="1709750"/>
            <a:ext cx="10515600" cy="2852737"/>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0"/>
          <p:cNvSpPr txBox="1">
            <a:spLocks noGrp="1"/>
          </p:cNvSpPr>
          <p:nvPr>
            <p:ph type="body" idx="1"/>
          </p:nvPr>
        </p:nvSpPr>
        <p:spPr>
          <a:xfrm>
            <a:off x="831851" y="4589465"/>
            <a:ext cx="10515600" cy="1500187"/>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9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40"/>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0"/>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0"/>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43"/>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3"/>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44"/>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4"/>
          <p:cNvSpPr txBox="1">
            <a:spLocks noGrp="1"/>
          </p:cNvSpPr>
          <p:nvPr>
            <p:ph type="body" idx="1"/>
          </p:nvPr>
        </p:nvSpPr>
        <p:spPr>
          <a:xfrm>
            <a:off x="5183188" y="987437"/>
            <a:ext cx="6172200" cy="4873625"/>
          </a:xfrm>
          <a:prstGeom prst="rect">
            <a:avLst/>
          </a:prstGeom>
          <a:noFill/>
          <a:ln>
            <a:noFill/>
          </a:ln>
        </p:spPr>
        <p:txBody>
          <a:bodyPr spcFirstLastPara="1" wrap="square" lIns="91400" tIns="45675" rIns="91400" bIns="45675"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4"/>
          <p:cNvSpPr txBox="1">
            <a:spLocks noGrp="1"/>
          </p:cNvSpPr>
          <p:nvPr>
            <p:ph type="body" idx="2"/>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1" name="Google Shape;71;p44"/>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a:spLocks noGrp="1"/>
          </p:cNvSpPr>
          <p:nvPr>
            <p:ph type="pic" idx="2"/>
          </p:nvPr>
        </p:nvSpPr>
        <p:spPr>
          <a:xfrm>
            <a:off x="5183188" y="987437"/>
            <a:ext cx="6172200" cy="4873625"/>
          </a:xfrm>
          <a:prstGeom prst="rect">
            <a:avLst/>
          </a:prstGeom>
          <a:noFill/>
          <a:ln>
            <a:noFill/>
          </a:ln>
        </p:spPr>
      </p:sp>
      <p:sp>
        <p:nvSpPr>
          <p:cNvPr id="77" name="Google Shape;77;p45"/>
          <p:cNvSpPr txBox="1">
            <a:spLocks noGrp="1"/>
          </p:cNvSpPr>
          <p:nvPr>
            <p:ph type="body" idx="1"/>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8" name="Google Shape;78;p4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46"/>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body" idx="1"/>
          </p:nvPr>
        </p:nvSpPr>
        <p:spPr>
          <a:xfrm rot="5400000">
            <a:off x="3920333" y="-1256507"/>
            <a:ext cx="4351339" cy="105156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6"/>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6"/>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6"/>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47"/>
          <p:cNvSpPr txBox="1">
            <a:spLocks noGrp="1"/>
          </p:cNvSpPr>
          <p:nvPr>
            <p:ph type="title"/>
          </p:nvPr>
        </p:nvSpPr>
        <p:spPr>
          <a:xfrm rot="5400000">
            <a:off x="7133442" y="1956595"/>
            <a:ext cx="5811839" cy="2628900"/>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7"/>
          <p:cNvSpPr txBox="1">
            <a:spLocks noGrp="1"/>
          </p:cNvSpPr>
          <p:nvPr>
            <p:ph type="body" idx="1"/>
          </p:nvPr>
        </p:nvSpPr>
        <p:spPr>
          <a:xfrm rot="5400000">
            <a:off x="1799442" y="-596106"/>
            <a:ext cx="5811839" cy="77343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7"/>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7"/>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 id="2147483655" r:id="rId2"/>
    <p:sldLayoutId id="2147483657" r:id="rId3"/>
    <p:sldLayoutId id="2147483658" r:id="rId4"/>
    <p:sldLayoutId id="2147483659" r:id="rId5"/>
    <p:sldLayoutId id="2147483660" r:id="rId6"/>
    <p:sldLayoutId id="2147483661"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8;p2"/>
          <p:cNvSpPr txBox="1"/>
          <p:nvPr/>
        </p:nvSpPr>
        <p:spPr>
          <a:xfrm>
            <a:off x="-1" y="701742"/>
            <a:ext cx="12191999"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5" name="Google Shape;99;p2"/>
          <p:cNvPicPr preferRelativeResize="0"/>
          <p:nvPr/>
        </p:nvPicPr>
        <p:blipFill rotWithShape="1">
          <a:blip r:embed="rId2">
            <a:alphaModFix/>
          </a:blip>
          <a:srcRect/>
          <a:stretch/>
        </p:blipFill>
        <p:spPr>
          <a:xfrm>
            <a:off x="14086508" y="11637873"/>
            <a:ext cx="158226" cy="163709"/>
          </a:xfrm>
          <a:prstGeom prst="rect">
            <a:avLst/>
          </a:prstGeom>
          <a:noFill/>
          <a:ln>
            <a:noFill/>
          </a:ln>
        </p:spPr>
      </p:pic>
      <p:sp>
        <p:nvSpPr>
          <p:cNvPr id="8" name="AutoShape 4" descr="DALL·E 2024-11-21 08.42.52 - A futuristic and visually appealing train designed for technology projects, with a sleek and modern design, surrounded by a professional and clean bac.webp">
            <a:extLst>
              <a:ext uri="{FF2B5EF4-FFF2-40B4-BE49-F238E27FC236}">
                <a16:creationId xmlns:a16="http://schemas.microsoft.com/office/drawing/2014/main" id="{9A5763A6-5270-B507-E200-86C83BFA5A70}"/>
              </a:ext>
            </a:extLst>
          </p:cNvPr>
          <p:cNvSpPr>
            <a:spLocks noChangeAspect="1" noChangeArrowheads="1"/>
          </p:cNvSpPr>
          <p:nvPr/>
        </p:nvSpPr>
        <p:spPr bwMode="auto">
          <a:xfrm>
            <a:off x="3300414" y="1480008"/>
            <a:ext cx="5077932" cy="51112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54B25AD2-AE64-70C6-747C-BDB565F413BC}"/>
              </a:ext>
            </a:extLst>
          </p:cNvPr>
          <p:cNvPicPr>
            <a:picLocks noChangeAspect="1"/>
          </p:cNvPicPr>
          <p:nvPr/>
        </p:nvPicPr>
        <p:blipFill>
          <a:blip r:embed="rId3"/>
          <a:stretch>
            <a:fillRect/>
          </a:stretch>
        </p:blipFill>
        <p:spPr>
          <a:xfrm>
            <a:off x="-1" y="1"/>
            <a:ext cx="12292403" cy="6858000"/>
          </a:xfrm>
          <a:prstGeom prst="rect">
            <a:avLst/>
          </a:prstGeom>
        </p:spPr>
      </p:pic>
    </p:spTree>
    <p:extLst>
      <p:ext uri="{BB962C8B-B14F-4D97-AF65-F5344CB8AC3E}">
        <p14:creationId xmlns:p14="http://schemas.microsoft.com/office/powerpoint/2010/main" val="235031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248F65-BC28-655E-3F9F-489945C586A4}"/>
              </a:ext>
            </a:extLst>
          </p:cNvPr>
          <p:cNvSpPr txBox="1"/>
          <p:nvPr/>
        </p:nvSpPr>
        <p:spPr>
          <a:xfrm>
            <a:off x="0" y="1206967"/>
            <a:ext cx="12191999" cy="4216539"/>
          </a:xfrm>
          <a:prstGeom prst="rect">
            <a:avLst/>
          </a:prstGeom>
          <a:noFill/>
        </p:spPr>
        <p:txBody>
          <a:bodyPr wrap="square">
            <a:spAutoFit/>
          </a:bodyPr>
          <a:lstStyle/>
          <a:p>
            <a:pPr marL="571500" indent="-571500" algn="ctr" rtl="0">
              <a:buFont typeface="Wingdings" panose="05000000000000000000" pitchFamily="2" charset="2"/>
              <a:buChar char="q"/>
            </a:pPr>
            <a:r>
              <a:rPr lang="en-US" sz="4400" b="1" i="0" u="none" strike="noStrike" dirty="0">
                <a:solidFill>
                  <a:schemeClr val="tx1"/>
                </a:solidFill>
                <a:effectLst/>
                <a:latin typeface="Arial" panose="020B0604020202020204" pitchFamily="34" charset="0"/>
              </a:rPr>
              <a:t>CONTENTS</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BUSINESS OBJECTIVE</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BUSINESS CONSTRAINTS</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a:t>
            </a:r>
            <a:r>
              <a:rPr lang="en-IN" sz="2800" dirty="0">
                <a:solidFill>
                  <a:schemeClr val="bg2"/>
                </a:solidFill>
              </a:rPr>
              <a:t>PROJECT WORKFLOW</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a:t>
            </a:r>
            <a:r>
              <a:rPr lang="en-US" sz="2800" b="0" i="0" u="none" strike="noStrike" dirty="0">
                <a:solidFill>
                  <a:schemeClr val="bg2"/>
                </a:solidFill>
                <a:effectLst/>
                <a:latin typeface="Arial" panose="020B0604020202020204" pitchFamily="34" charset="0"/>
              </a:rPr>
              <a:t>PROJECT ARCHITECTURE</a:t>
            </a:r>
          </a:p>
          <a:p>
            <a:pPr marL="880110" indent="-457200" rtl="0" fontAlgn="base">
              <a:buFont typeface="Arial" panose="020B0604020202020204" pitchFamily="34" charset="0"/>
              <a:buChar char="•"/>
            </a:pPr>
            <a:r>
              <a:rPr lang="en-US" sz="2800" dirty="0">
                <a:solidFill>
                  <a:schemeClr val="bg2"/>
                </a:solidFill>
                <a:latin typeface="Arial" panose="020B0604020202020204" pitchFamily="34" charset="0"/>
              </a:rPr>
              <a:t> DATA COLLECTION</a:t>
            </a:r>
            <a:endParaRPr lang="en-US" sz="2800" b="0" i="0" u="none" strike="noStrike" dirty="0">
              <a:solidFill>
                <a:schemeClr val="bg2"/>
              </a:solidFill>
              <a:effectLst/>
              <a:latin typeface="Arial" panose="020B0604020202020204" pitchFamily="34" charset="0"/>
            </a:endParaRP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DATA PREPROCESSING</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PROJECT CHALLENGES</a:t>
            </a:r>
          </a:p>
          <a:p>
            <a:pPr marL="880110" indent="-457200" rtl="0" fontAlgn="base">
              <a:buFont typeface="Arial" panose="020B0604020202020204" pitchFamily="34" charset="0"/>
              <a:buChar char="•"/>
            </a:pPr>
            <a:r>
              <a:rPr lang="en-US" sz="2800" b="0" i="0" u="none" strike="noStrike" dirty="0">
                <a:solidFill>
                  <a:schemeClr val="bg2"/>
                </a:solidFill>
                <a:effectLst/>
                <a:latin typeface="Arial" panose="020B0604020202020204" pitchFamily="34" charset="0"/>
              </a:rPr>
              <a:t> CONCLUSION</a:t>
            </a:r>
          </a:p>
        </p:txBody>
      </p:sp>
      <p:pic>
        <p:nvPicPr>
          <p:cNvPr id="3" name="Picture 2">
            <a:extLst>
              <a:ext uri="{FF2B5EF4-FFF2-40B4-BE49-F238E27FC236}">
                <a16:creationId xmlns:a16="http://schemas.microsoft.com/office/drawing/2014/main" id="{BA03AE2F-BA7F-1298-A4E8-89619CB15A1E}"/>
              </a:ext>
            </a:extLst>
          </p:cNvPr>
          <p:cNvPicPr>
            <a:picLocks noChangeAspect="1"/>
          </p:cNvPicPr>
          <p:nvPr/>
        </p:nvPicPr>
        <p:blipFill>
          <a:blip r:embed="rId2"/>
          <a:stretch>
            <a:fillRect/>
          </a:stretch>
        </p:blipFill>
        <p:spPr>
          <a:xfrm>
            <a:off x="9844087" y="5651032"/>
            <a:ext cx="2347911" cy="1206967"/>
          </a:xfrm>
          <a:prstGeom prst="rect">
            <a:avLst/>
          </a:prstGeom>
        </p:spPr>
      </p:pic>
    </p:spTree>
    <p:extLst>
      <p:ext uri="{BB962C8B-B14F-4D97-AF65-F5344CB8AC3E}">
        <p14:creationId xmlns:p14="http://schemas.microsoft.com/office/powerpoint/2010/main" val="3819868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7F297-8DBD-B7F7-F024-43DD7BB94E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E873BA-5138-2B28-A20F-71270046F86D}"/>
              </a:ext>
            </a:extLst>
          </p:cNvPr>
          <p:cNvSpPr txBox="1"/>
          <p:nvPr/>
        </p:nvSpPr>
        <p:spPr>
          <a:xfrm>
            <a:off x="75414" y="2271713"/>
            <a:ext cx="12116585" cy="4524315"/>
          </a:xfrm>
          <a:prstGeom prst="rect">
            <a:avLst/>
          </a:prstGeom>
          <a:noFill/>
        </p:spPr>
        <p:txBody>
          <a:bodyPr wrap="square">
            <a:spAutoFit/>
          </a:bodyPr>
          <a:lstStyle/>
          <a:p>
            <a:r>
              <a:rPr lang="en-US" sz="3600" dirty="0"/>
              <a:t>The manual monitoring and reporting of safety incidents and compliance issues is inefficient, prone to delays, and inconsistent due to human error. This process can lead to potential safety hazards, regulatory fines, and increased downtime. The current approach relies on employees to report incidents or track compliance manually, which is labor-intensive and creates bottlenecks in maintaining a safe work environment.</a:t>
            </a:r>
            <a:endParaRPr lang="en-IN" sz="2800" dirty="0">
              <a:solidFill>
                <a:schemeClr val="bg2"/>
              </a:solidFill>
            </a:endParaRPr>
          </a:p>
        </p:txBody>
      </p:sp>
      <p:sp>
        <p:nvSpPr>
          <p:cNvPr id="5" name="TextBox 4">
            <a:extLst>
              <a:ext uri="{FF2B5EF4-FFF2-40B4-BE49-F238E27FC236}">
                <a16:creationId xmlns:a16="http://schemas.microsoft.com/office/drawing/2014/main" id="{07717DBF-A8D6-2B4F-F79B-3050E08B6078}"/>
              </a:ext>
            </a:extLst>
          </p:cNvPr>
          <p:cNvSpPr txBox="1"/>
          <p:nvPr/>
        </p:nvSpPr>
        <p:spPr>
          <a:xfrm>
            <a:off x="1" y="785046"/>
            <a:ext cx="12192000" cy="1200329"/>
          </a:xfrm>
          <a:prstGeom prst="rect">
            <a:avLst/>
          </a:prstGeom>
          <a:noFill/>
        </p:spPr>
        <p:txBody>
          <a:bodyPr wrap="square">
            <a:spAutoFit/>
          </a:bodyPr>
          <a:lstStyle/>
          <a:p>
            <a:pPr marL="571500" indent="-571500" algn="ctr" rtl="0">
              <a:buFont typeface="Wingdings" panose="05000000000000000000" pitchFamily="2" charset="2"/>
              <a:buChar char="q"/>
            </a:pPr>
            <a:r>
              <a:rPr lang="en-IN" sz="4400" b="1" i="0" u="none" strike="noStrike" dirty="0">
                <a:solidFill>
                  <a:schemeClr val="bg2"/>
                </a:solidFill>
                <a:effectLst/>
                <a:latin typeface="Arial" panose="020B0604020202020204" pitchFamily="34" charset="0"/>
              </a:rPr>
              <a:t>BUSINESS PROBLEM</a:t>
            </a:r>
            <a:endParaRPr lang="en-IN" sz="4400" b="1" dirty="0">
              <a:solidFill>
                <a:schemeClr val="bg2"/>
              </a:solidFill>
              <a:effectLst/>
            </a:endParaRPr>
          </a:p>
          <a:p>
            <a:br>
              <a:rPr lang="en-IN" dirty="0"/>
            </a:br>
            <a:endParaRPr lang="en-IN" dirty="0"/>
          </a:p>
        </p:txBody>
      </p:sp>
      <p:pic>
        <p:nvPicPr>
          <p:cNvPr id="4" name="Picture 3">
            <a:extLst>
              <a:ext uri="{FF2B5EF4-FFF2-40B4-BE49-F238E27FC236}">
                <a16:creationId xmlns:a16="http://schemas.microsoft.com/office/drawing/2014/main" id="{9D1B30B6-2535-23A6-4B90-08F0A3BAB1FD}"/>
              </a:ext>
            </a:extLst>
          </p:cNvPr>
          <p:cNvPicPr>
            <a:picLocks noChangeAspect="1"/>
          </p:cNvPicPr>
          <p:nvPr/>
        </p:nvPicPr>
        <p:blipFill>
          <a:blip r:embed="rId2"/>
          <a:stretch>
            <a:fillRect/>
          </a:stretch>
        </p:blipFill>
        <p:spPr>
          <a:xfrm>
            <a:off x="9229725" y="6134926"/>
            <a:ext cx="2962275" cy="723074"/>
          </a:xfrm>
          <a:prstGeom prst="rect">
            <a:avLst/>
          </a:prstGeom>
        </p:spPr>
      </p:pic>
    </p:spTree>
    <p:extLst>
      <p:ext uri="{BB962C8B-B14F-4D97-AF65-F5344CB8AC3E}">
        <p14:creationId xmlns:p14="http://schemas.microsoft.com/office/powerpoint/2010/main" val="385271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D30C98-73F7-664D-86D9-2F9387876DB9}"/>
              </a:ext>
            </a:extLst>
          </p:cNvPr>
          <p:cNvSpPr txBox="1"/>
          <p:nvPr/>
        </p:nvSpPr>
        <p:spPr>
          <a:xfrm>
            <a:off x="985838" y="671512"/>
            <a:ext cx="10001250" cy="5170646"/>
          </a:xfrm>
          <a:prstGeom prst="rect">
            <a:avLst/>
          </a:prstGeom>
          <a:noFill/>
        </p:spPr>
        <p:txBody>
          <a:bodyPr wrap="square">
            <a:spAutoFit/>
          </a:bodyPr>
          <a:lstStyle/>
          <a:p>
            <a:pPr rtl="0"/>
            <a:r>
              <a:rPr lang="en-US" sz="4400" b="1" i="0" u="none" strike="noStrike" dirty="0">
                <a:solidFill>
                  <a:schemeClr val="bg2"/>
                </a:solidFill>
                <a:effectLst/>
                <a:latin typeface="Arial" panose="020B0604020202020204" pitchFamily="34" charset="0"/>
              </a:rPr>
              <a:t>OBJECTIVE:</a:t>
            </a:r>
            <a:endParaRPr lang="en-US" sz="4400" b="1" dirty="0">
              <a:solidFill>
                <a:schemeClr val="bg2"/>
              </a:solidFill>
              <a:effectLst/>
            </a:endParaRPr>
          </a:p>
          <a:p>
            <a:pPr rtl="0"/>
            <a:br>
              <a:rPr lang="en-US" b="0" dirty="0">
                <a:solidFill>
                  <a:schemeClr val="bg2"/>
                </a:solidFill>
                <a:effectLst/>
              </a:rPr>
            </a:br>
            <a:r>
              <a:rPr lang="en-US" sz="3600" dirty="0"/>
              <a:t>Maximize Workplace Safety, Maximize Hard Detection.</a:t>
            </a:r>
            <a:r>
              <a:rPr lang="en-US" sz="1400" b="0" i="0" u="none" strike="noStrike" dirty="0">
                <a:solidFill>
                  <a:schemeClr val="bg2"/>
                </a:solidFill>
                <a:effectLst/>
                <a:latin typeface="Arial" panose="020B0604020202020204" pitchFamily="34" charset="0"/>
              </a:rPr>
              <a:t>.</a:t>
            </a:r>
            <a:endParaRPr lang="en-US" b="0" dirty="0">
              <a:solidFill>
                <a:schemeClr val="bg2"/>
              </a:solidFill>
              <a:effectLst/>
            </a:endParaRPr>
          </a:p>
          <a:p>
            <a:pPr rtl="0"/>
            <a:br>
              <a:rPr lang="en-US" b="0" dirty="0">
                <a:solidFill>
                  <a:schemeClr val="bg2"/>
                </a:solidFill>
                <a:effectLst/>
              </a:rPr>
            </a:br>
            <a:r>
              <a:rPr lang="en-US" sz="3200" b="0" i="0" u="none" strike="noStrike" dirty="0">
                <a:solidFill>
                  <a:schemeClr val="bg2"/>
                </a:solidFill>
                <a:effectLst/>
                <a:latin typeface="Arial" panose="020B0604020202020204" pitchFamily="34" charset="0"/>
              </a:rPr>
              <a:t> </a:t>
            </a:r>
          </a:p>
          <a:p>
            <a:pPr rtl="0"/>
            <a:endParaRPr lang="en-US" sz="3200" dirty="0">
              <a:solidFill>
                <a:schemeClr val="bg2"/>
              </a:solidFill>
              <a:latin typeface="Arial" panose="020B0604020202020204" pitchFamily="34" charset="0"/>
            </a:endParaRPr>
          </a:p>
          <a:p>
            <a:pPr rtl="0"/>
            <a:r>
              <a:rPr lang="en-US" sz="4400" b="1" i="0" u="none" strike="noStrike" dirty="0">
                <a:solidFill>
                  <a:schemeClr val="bg2"/>
                </a:solidFill>
                <a:effectLst/>
                <a:latin typeface="Arial" panose="020B0604020202020204" pitchFamily="34" charset="0"/>
              </a:rPr>
              <a:t>CONSTRAINT:</a:t>
            </a:r>
            <a:endParaRPr lang="en-US" sz="4400" b="1" dirty="0">
              <a:solidFill>
                <a:schemeClr val="bg2"/>
              </a:solidFill>
              <a:effectLst/>
            </a:endParaRPr>
          </a:p>
          <a:p>
            <a:pPr rtl="0"/>
            <a:br>
              <a:rPr lang="en-US" sz="2800" b="0" dirty="0">
                <a:solidFill>
                  <a:schemeClr val="bg2"/>
                </a:solidFill>
                <a:effectLst/>
              </a:rPr>
            </a:br>
            <a:r>
              <a:rPr lang="en-IN" sz="3600" dirty="0"/>
              <a:t>Minimize cost.</a:t>
            </a:r>
            <a:br>
              <a:rPr lang="en-US" dirty="0">
                <a:solidFill>
                  <a:schemeClr val="bg2"/>
                </a:solidFill>
              </a:rPr>
            </a:br>
            <a:endParaRPr lang="en-IN" dirty="0">
              <a:solidFill>
                <a:schemeClr val="bg2"/>
              </a:solidFill>
            </a:endParaRPr>
          </a:p>
        </p:txBody>
      </p:sp>
      <p:pic>
        <p:nvPicPr>
          <p:cNvPr id="3" name="Picture 2">
            <a:extLst>
              <a:ext uri="{FF2B5EF4-FFF2-40B4-BE49-F238E27FC236}">
                <a16:creationId xmlns:a16="http://schemas.microsoft.com/office/drawing/2014/main" id="{C0011529-7E52-E677-03FF-373F793601FA}"/>
              </a:ext>
            </a:extLst>
          </p:cNvPr>
          <p:cNvPicPr>
            <a:picLocks noChangeAspect="1"/>
          </p:cNvPicPr>
          <p:nvPr/>
        </p:nvPicPr>
        <p:blipFill>
          <a:blip r:embed="rId2"/>
          <a:stretch>
            <a:fillRect/>
          </a:stretch>
        </p:blipFill>
        <p:spPr>
          <a:xfrm>
            <a:off x="10287000" y="5678567"/>
            <a:ext cx="1905000" cy="1015842"/>
          </a:xfrm>
          <a:prstGeom prst="rect">
            <a:avLst/>
          </a:prstGeom>
        </p:spPr>
      </p:pic>
    </p:spTree>
    <p:extLst>
      <p:ext uri="{BB962C8B-B14F-4D97-AF65-F5344CB8AC3E}">
        <p14:creationId xmlns:p14="http://schemas.microsoft.com/office/powerpoint/2010/main" val="1555526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036F-A507-6AB4-2E4F-43386B38DF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CEE328-82BF-AC81-6ADC-6E27D0064C59}"/>
              </a:ext>
            </a:extLst>
          </p:cNvPr>
          <p:cNvSpPr txBox="1"/>
          <p:nvPr/>
        </p:nvSpPr>
        <p:spPr>
          <a:xfrm>
            <a:off x="985838" y="671512"/>
            <a:ext cx="10001250" cy="6186309"/>
          </a:xfrm>
          <a:prstGeom prst="rect">
            <a:avLst/>
          </a:prstGeom>
          <a:noFill/>
        </p:spPr>
        <p:txBody>
          <a:bodyPr wrap="square">
            <a:spAutoFit/>
          </a:bodyPr>
          <a:lstStyle/>
          <a:p>
            <a:pPr marL="571500" indent="-571500">
              <a:buFont typeface="Arial" panose="020B0604020202020204" pitchFamily="34" charset="0"/>
              <a:buChar char="•"/>
            </a:pPr>
            <a:r>
              <a:rPr lang="en-US" sz="3600" b="1" dirty="0">
                <a:solidFill>
                  <a:schemeClr val="bg2"/>
                </a:solidFill>
              </a:rPr>
              <a:t>PROJECT WORKFLOW</a:t>
            </a:r>
          </a:p>
          <a:p>
            <a:endParaRPr lang="en-US" sz="3600" b="1" dirty="0">
              <a:solidFill>
                <a:schemeClr val="bg2"/>
              </a:solidFill>
            </a:endParaRPr>
          </a:p>
          <a:p>
            <a:pPr>
              <a:buFont typeface="+mj-lt"/>
              <a:buAutoNum type="arabicPeriod"/>
            </a:pPr>
            <a:r>
              <a:rPr lang="en-US" sz="3600" b="1" dirty="0">
                <a:solidFill>
                  <a:schemeClr val="bg2"/>
                </a:solidFill>
              </a:rPr>
              <a:t>IMAGE COLLECTION &amp; PREPROCESSING</a:t>
            </a:r>
            <a:endParaRPr lang="en-US" sz="3600" dirty="0">
              <a:solidFill>
                <a:schemeClr val="bg2"/>
              </a:solidFill>
            </a:endParaRPr>
          </a:p>
          <a:p>
            <a:pPr>
              <a:buFont typeface="+mj-lt"/>
              <a:buAutoNum type="arabicPeriod"/>
            </a:pPr>
            <a:r>
              <a:rPr lang="en-US" sz="3600" b="1" dirty="0">
                <a:solidFill>
                  <a:schemeClr val="bg2"/>
                </a:solidFill>
              </a:rPr>
              <a:t>IMAGE ANNOTATION &amp; DATA     AUGMENTATION</a:t>
            </a:r>
            <a:endParaRPr lang="en-US" sz="3600" dirty="0">
              <a:solidFill>
                <a:schemeClr val="bg2"/>
              </a:solidFill>
            </a:endParaRPr>
          </a:p>
          <a:p>
            <a:pPr>
              <a:buFont typeface="+mj-lt"/>
              <a:buAutoNum type="arabicPeriod"/>
            </a:pPr>
            <a:r>
              <a:rPr lang="en-US" sz="3600" b="1" dirty="0">
                <a:solidFill>
                  <a:schemeClr val="bg2"/>
                </a:solidFill>
              </a:rPr>
              <a:t>OBJECT DETECTION</a:t>
            </a:r>
            <a:endParaRPr lang="en-US" sz="3600" dirty="0">
              <a:solidFill>
                <a:schemeClr val="bg2"/>
              </a:solidFill>
            </a:endParaRPr>
          </a:p>
          <a:p>
            <a:pPr>
              <a:buFont typeface="+mj-lt"/>
              <a:buAutoNum type="arabicPeriod"/>
            </a:pPr>
            <a:r>
              <a:rPr lang="en-US" sz="3600" b="1" dirty="0">
                <a:solidFill>
                  <a:schemeClr val="bg2"/>
                </a:solidFill>
              </a:rPr>
              <a:t>POSE ESTIMATION</a:t>
            </a:r>
            <a:endParaRPr lang="en-US" sz="3600" dirty="0">
              <a:solidFill>
                <a:schemeClr val="bg2"/>
              </a:solidFill>
            </a:endParaRPr>
          </a:p>
          <a:p>
            <a:pPr>
              <a:buFont typeface="+mj-lt"/>
              <a:buAutoNum type="arabicPeriod"/>
            </a:pPr>
            <a:r>
              <a:rPr lang="en-US" sz="3600" b="1" dirty="0">
                <a:solidFill>
                  <a:schemeClr val="bg2"/>
                </a:solidFill>
              </a:rPr>
              <a:t>DEPLOYMENT </a:t>
            </a:r>
            <a:endParaRPr lang="en-US" sz="3600" dirty="0">
              <a:solidFill>
                <a:schemeClr val="bg2"/>
              </a:solidFill>
            </a:endParaRPr>
          </a:p>
          <a:p>
            <a:pPr>
              <a:buFont typeface="+mj-lt"/>
              <a:buAutoNum type="arabicPeriod"/>
            </a:pPr>
            <a:r>
              <a:rPr lang="en-US" sz="3600" b="1" dirty="0">
                <a:solidFill>
                  <a:schemeClr val="bg2"/>
                </a:solidFill>
              </a:rPr>
              <a:t>ANALYSIS &amp; MONITORING</a:t>
            </a:r>
            <a:endParaRPr lang="en-US" sz="3600" dirty="0">
              <a:solidFill>
                <a:schemeClr val="bg2"/>
              </a:solidFill>
            </a:endParaRPr>
          </a:p>
          <a:p>
            <a:pPr rtl="0"/>
            <a:br>
              <a:rPr lang="en-US" sz="3600" dirty="0">
                <a:solidFill>
                  <a:schemeClr val="bg2"/>
                </a:solidFill>
              </a:rPr>
            </a:br>
            <a:endParaRPr lang="en-IN" sz="3600" dirty="0">
              <a:solidFill>
                <a:schemeClr val="bg2"/>
              </a:solidFill>
            </a:endParaRPr>
          </a:p>
        </p:txBody>
      </p:sp>
      <p:pic>
        <p:nvPicPr>
          <p:cNvPr id="3" name="Picture 2">
            <a:extLst>
              <a:ext uri="{FF2B5EF4-FFF2-40B4-BE49-F238E27FC236}">
                <a16:creationId xmlns:a16="http://schemas.microsoft.com/office/drawing/2014/main" id="{1D6D0018-FBD8-2895-ACF1-C8F1C13FA504}"/>
              </a:ext>
            </a:extLst>
          </p:cNvPr>
          <p:cNvPicPr>
            <a:picLocks noChangeAspect="1"/>
          </p:cNvPicPr>
          <p:nvPr/>
        </p:nvPicPr>
        <p:blipFill>
          <a:blip r:embed="rId2"/>
          <a:stretch>
            <a:fillRect/>
          </a:stretch>
        </p:blipFill>
        <p:spPr>
          <a:xfrm>
            <a:off x="9401175" y="5757863"/>
            <a:ext cx="2757487" cy="995362"/>
          </a:xfrm>
          <a:prstGeom prst="rect">
            <a:avLst/>
          </a:prstGeom>
        </p:spPr>
      </p:pic>
    </p:spTree>
    <p:extLst>
      <p:ext uri="{BB962C8B-B14F-4D97-AF65-F5344CB8AC3E}">
        <p14:creationId xmlns:p14="http://schemas.microsoft.com/office/powerpoint/2010/main" val="1146024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387A55-E2BE-EB2D-2983-98C022FAB3AF}"/>
              </a:ext>
            </a:extLst>
          </p:cNvPr>
          <p:cNvSpPr txBox="1"/>
          <p:nvPr/>
        </p:nvSpPr>
        <p:spPr>
          <a:xfrm>
            <a:off x="883487" y="0"/>
            <a:ext cx="10038522" cy="590931"/>
          </a:xfrm>
          <a:prstGeom prst="rect">
            <a:avLst/>
          </a:prstGeom>
          <a:noFill/>
        </p:spPr>
        <p:txBody>
          <a:bodyPr wrap="square">
            <a:spAutoFit/>
          </a:bodyPr>
          <a:lstStyle/>
          <a:p>
            <a:pPr marL="25400" lvl="0" algn="ctr" rtl="0">
              <a:lnSpc>
                <a:spcPct val="90000"/>
              </a:lnSpc>
              <a:spcBef>
                <a:spcPts val="0"/>
              </a:spcBef>
              <a:spcAft>
                <a:spcPts val="0"/>
              </a:spcAft>
              <a:buClr>
                <a:schemeClr val="dk1"/>
              </a:buClr>
              <a:buSzPts val="3200"/>
            </a:pPr>
            <a:r>
              <a:rPr lang="en-US" sz="3600" b="1" dirty="0">
                <a:solidFill>
                  <a:schemeClr val="dk1"/>
                </a:solidFill>
                <a:latin typeface="Times New Roman"/>
                <a:ea typeface="Times New Roman"/>
                <a:cs typeface="Times New Roman"/>
                <a:sym typeface="Times New Roman"/>
              </a:rPr>
              <a:t>PROJECT ARCHITECTURE-HIGH LEVEL</a:t>
            </a:r>
          </a:p>
        </p:txBody>
      </p:sp>
      <p:pic>
        <p:nvPicPr>
          <p:cNvPr id="3" name="Picture 2">
            <a:extLst>
              <a:ext uri="{FF2B5EF4-FFF2-40B4-BE49-F238E27FC236}">
                <a16:creationId xmlns:a16="http://schemas.microsoft.com/office/drawing/2014/main" id="{2AD5CBC7-9394-02BC-CA8F-348E71710D41}"/>
              </a:ext>
            </a:extLst>
          </p:cNvPr>
          <p:cNvPicPr>
            <a:picLocks noChangeAspect="1"/>
          </p:cNvPicPr>
          <p:nvPr/>
        </p:nvPicPr>
        <p:blipFill>
          <a:blip r:embed="rId3"/>
          <a:stretch>
            <a:fillRect/>
          </a:stretch>
        </p:blipFill>
        <p:spPr>
          <a:xfrm>
            <a:off x="0" y="593888"/>
            <a:ext cx="12192000" cy="6264111"/>
          </a:xfrm>
          <a:prstGeom prst="rect">
            <a:avLst/>
          </a:prstGeom>
        </p:spPr>
      </p:pic>
      <p:pic>
        <p:nvPicPr>
          <p:cNvPr id="4" name="Picture 3">
            <a:extLst>
              <a:ext uri="{FF2B5EF4-FFF2-40B4-BE49-F238E27FC236}">
                <a16:creationId xmlns:a16="http://schemas.microsoft.com/office/drawing/2014/main" id="{0D00ADAF-30E3-9A08-E12C-1C67B0E26D52}"/>
              </a:ext>
            </a:extLst>
          </p:cNvPr>
          <p:cNvPicPr>
            <a:picLocks noChangeAspect="1"/>
          </p:cNvPicPr>
          <p:nvPr/>
        </p:nvPicPr>
        <p:blipFill>
          <a:blip r:embed="rId4"/>
          <a:stretch>
            <a:fillRect/>
          </a:stretch>
        </p:blipFill>
        <p:spPr>
          <a:xfrm>
            <a:off x="9629775" y="6264112"/>
            <a:ext cx="2562225" cy="593888"/>
          </a:xfrm>
          <a:prstGeom prst="rect">
            <a:avLst/>
          </a:prstGeom>
        </p:spPr>
      </p:pic>
    </p:spTree>
    <p:extLst>
      <p:ext uri="{BB962C8B-B14F-4D97-AF65-F5344CB8AC3E}">
        <p14:creationId xmlns:p14="http://schemas.microsoft.com/office/powerpoint/2010/main" val="1611472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E3D5-F608-DC69-95E7-189A562FA5B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9C6AEF5-75B3-B272-14F3-7C6092F7DB29}"/>
              </a:ext>
            </a:extLst>
          </p:cNvPr>
          <p:cNvSpPr txBox="1"/>
          <p:nvPr/>
        </p:nvSpPr>
        <p:spPr>
          <a:xfrm>
            <a:off x="883487" y="0"/>
            <a:ext cx="10038522" cy="590931"/>
          </a:xfrm>
          <a:prstGeom prst="rect">
            <a:avLst/>
          </a:prstGeom>
          <a:noFill/>
        </p:spPr>
        <p:txBody>
          <a:bodyPr wrap="square">
            <a:spAutoFit/>
          </a:bodyPr>
          <a:lstStyle/>
          <a:p>
            <a:pPr marL="25400" lvl="0" algn="ctr" rtl="0">
              <a:lnSpc>
                <a:spcPct val="90000"/>
              </a:lnSpc>
              <a:spcBef>
                <a:spcPts val="0"/>
              </a:spcBef>
              <a:spcAft>
                <a:spcPts val="0"/>
              </a:spcAft>
              <a:buClr>
                <a:schemeClr val="dk1"/>
              </a:buClr>
              <a:buSzPts val="3200"/>
            </a:pPr>
            <a:r>
              <a:rPr lang="en-US" sz="3600" b="1" dirty="0">
                <a:solidFill>
                  <a:schemeClr val="dk1"/>
                </a:solidFill>
                <a:latin typeface="Times New Roman"/>
                <a:ea typeface="Times New Roman"/>
                <a:cs typeface="Times New Roman"/>
                <a:sym typeface="Times New Roman"/>
              </a:rPr>
              <a:t>PROJECT ARCHITECTURE-LOW LEVEL</a:t>
            </a:r>
          </a:p>
        </p:txBody>
      </p:sp>
      <p:pic>
        <p:nvPicPr>
          <p:cNvPr id="4" name="Picture 3">
            <a:extLst>
              <a:ext uri="{FF2B5EF4-FFF2-40B4-BE49-F238E27FC236}">
                <a16:creationId xmlns:a16="http://schemas.microsoft.com/office/drawing/2014/main" id="{E9576A56-635B-785C-B3A7-9DBCA590FC19}"/>
              </a:ext>
            </a:extLst>
          </p:cNvPr>
          <p:cNvPicPr>
            <a:picLocks noChangeAspect="1"/>
          </p:cNvPicPr>
          <p:nvPr/>
        </p:nvPicPr>
        <p:blipFill>
          <a:blip r:embed="rId3"/>
          <a:stretch>
            <a:fillRect/>
          </a:stretch>
        </p:blipFill>
        <p:spPr>
          <a:xfrm>
            <a:off x="0" y="434080"/>
            <a:ext cx="12192000" cy="6423920"/>
          </a:xfrm>
          <a:prstGeom prst="rect">
            <a:avLst/>
          </a:prstGeom>
        </p:spPr>
      </p:pic>
      <p:pic>
        <p:nvPicPr>
          <p:cNvPr id="9" name="Picture 2" descr="360DigiTMG Reviews - 52 Reviews of 360digitmg.com | Sitejabber">
            <a:extLst>
              <a:ext uri="{FF2B5EF4-FFF2-40B4-BE49-F238E27FC236}">
                <a16:creationId xmlns:a16="http://schemas.microsoft.com/office/drawing/2014/main" id="{5FEA1105-3DCF-A9F3-A4F6-4720BF4967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8330" y="6452080"/>
            <a:ext cx="2636081" cy="405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527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B60-D756-82B6-33F2-72C2D14F3A25}"/>
              </a:ext>
            </a:extLst>
          </p:cNvPr>
          <p:cNvSpPr>
            <a:spLocks noGrp="1"/>
          </p:cNvSpPr>
          <p:nvPr>
            <p:ph type="title"/>
          </p:nvPr>
        </p:nvSpPr>
        <p:spPr>
          <a:xfrm>
            <a:off x="0" y="0"/>
            <a:ext cx="12192000" cy="6857999"/>
          </a:xfrm>
        </p:spPr>
        <p:txBody>
          <a:bodyPr>
            <a:normAutofit/>
          </a:bodyPr>
          <a:lstStyle/>
          <a:p>
            <a:pPr marL="571500" indent="-571500">
              <a:buFont typeface="Wingdings" panose="05000000000000000000" pitchFamily="2" charset="2"/>
              <a:buChar char="q"/>
            </a:pPr>
            <a:r>
              <a:rPr lang="en-IN" sz="3200" b="1" dirty="0"/>
              <a:t>IMAGE COLLECTION &amp; PREPROCESSING:</a:t>
            </a:r>
            <a:br>
              <a:rPr lang="en-IN" b="1" dirty="0"/>
            </a:br>
            <a:r>
              <a:rPr lang="en-IN" sz="2800" dirty="0"/>
              <a:t>COLLECTED 540 WORKPLACE SAFETY IMAGES</a:t>
            </a:r>
            <a:br>
              <a:rPr lang="en-IN" sz="2800" dirty="0"/>
            </a:br>
            <a:r>
              <a:rPr lang="en-IN" sz="2800" dirty="0"/>
              <a:t>EXTRACTED IMAGES FROM VIDEOS USING OPENCV.</a:t>
            </a:r>
            <a:br>
              <a:rPr lang="en-IN" dirty="0"/>
            </a:br>
            <a:br>
              <a:rPr lang="en-IN" sz="3200" dirty="0"/>
            </a:br>
            <a:r>
              <a:rPr lang="en-IN" sz="3200" b="1" dirty="0"/>
              <a:t>ANNOTATION WITH ROBOFLOW:</a:t>
            </a:r>
            <a:br>
              <a:rPr lang="en-IN" dirty="0"/>
            </a:br>
            <a:r>
              <a:rPr lang="en-IN" sz="2800" dirty="0"/>
              <a:t>LABELED SAFETY GEAR (GLOVES, MASK, FULL LAB COAT,HALF LABCOAT, SHOES, GOGGLES, HAIR CAP)</a:t>
            </a:r>
            <a:br>
              <a:rPr lang="en-IN" sz="2800" dirty="0"/>
            </a:br>
            <a:br>
              <a:rPr lang="en-IN" sz="2800" dirty="0"/>
            </a:br>
            <a:r>
              <a:rPr lang="en-IN" sz="2800" dirty="0"/>
              <a:t>COMPLIANCE = ALL REQUIRED SAFETY GEAR DETECTED</a:t>
            </a:r>
            <a:br>
              <a:rPr lang="en-IN" dirty="0"/>
            </a:br>
            <a:br>
              <a:rPr lang="en-IN" b="1" dirty="0"/>
            </a:br>
            <a:r>
              <a:rPr lang="en-IN" sz="8000" dirty="0">
                <a:solidFill>
                  <a:schemeClr val="accent1">
                    <a:lumMod val="60000"/>
                    <a:lumOff val="40000"/>
                  </a:schemeClr>
                </a:solidFill>
              </a:rPr>
              <a:t>        </a:t>
            </a:r>
            <a:endParaRPr lang="en-IN" sz="9600" dirty="0">
              <a:solidFill>
                <a:schemeClr val="accent1">
                  <a:lumMod val="60000"/>
                  <a:lumOff val="40000"/>
                </a:schemeClr>
              </a:solidFill>
            </a:endParaRPr>
          </a:p>
        </p:txBody>
      </p:sp>
      <p:pic>
        <p:nvPicPr>
          <p:cNvPr id="4" name="Picture 3">
            <a:extLst>
              <a:ext uri="{FF2B5EF4-FFF2-40B4-BE49-F238E27FC236}">
                <a16:creationId xmlns:a16="http://schemas.microsoft.com/office/drawing/2014/main" id="{82E75D81-DAD0-86F8-7C68-5F4A69A12B09}"/>
              </a:ext>
            </a:extLst>
          </p:cNvPr>
          <p:cNvPicPr>
            <a:picLocks noChangeAspect="1"/>
          </p:cNvPicPr>
          <p:nvPr/>
        </p:nvPicPr>
        <p:blipFill>
          <a:blip r:embed="rId2"/>
          <a:stretch>
            <a:fillRect/>
          </a:stretch>
        </p:blipFill>
        <p:spPr>
          <a:xfrm>
            <a:off x="9158288" y="5815012"/>
            <a:ext cx="2905125" cy="985837"/>
          </a:xfrm>
          <a:prstGeom prst="rect">
            <a:avLst/>
          </a:prstGeom>
        </p:spPr>
      </p:pic>
    </p:spTree>
    <p:extLst>
      <p:ext uri="{BB962C8B-B14F-4D97-AF65-F5344CB8AC3E}">
        <p14:creationId xmlns:p14="http://schemas.microsoft.com/office/powerpoint/2010/main" val="190259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254F2C-20DE-0CE8-7CEC-65AAF28579DC}"/>
              </a:ext>
            </a:extLst>
          </p:cNvPr>
          <p:cNvSpPr txBox="1"/>
          <p:nvPr/>
        </p:nvSpPr>
        <p:spPr>
          <a:xfrm>
            <a:off x="3046810" y="3275112"/>
            <a:ext cx="6093618" cy="307777"/>
          </a:xfrm>
          <a:prstGeom prst="rect">
            <a:avLst/>
          </a:prstGeom>
          <a:noFill/>
        </p:spPr>
        <p:txBody>
          <a:bodyPr wrap="square">
            <a:spAutoFit/>
          </a:bodyPr>
          <a:lstStyle/>
          <a:p>
            <a:r>
              <a:rPr lang="en-IN" b="0" dirty="0">
                <a:effectLst/>
              </a:rPr>
              <a:t> </a:t>
            </a:r>
            <a:endParaRPr lang="en-IN" dirty="0"/>
          </a:p>
        </p:txBody>
      </p:sp>
      <p:sp>
        <p:nvSpPr>
          <p:cNvPr id="6" name="TextBox 5">
            <a:extLst>
              <a:ext uri="{FF2B5EF4-FFF2-40B4-BE49-F238E27FC236}">
                <a16:creationId xmlns:a16="http://schemas.microsoft.com/office/drawing/2014/main" id="{356601D2-0A3D-B6AB-C52D-6A1EDB82126C}"/>
              </a:ext>
            </a:extLst>
          </p:cNvPr>
          <p:cNvSpPr txBox="1"/>
          <p:nvPr/>
        </p:nvSpPr>
        <p:spPr>
          <a:xfrm>
            <a:off x="3046810" y="3275112"/>
            <a:ext cx="6093618" cy="307777"/>
          </a:xfrm>
          <a:prstGeom prst="rect">
            <a:avLst/>
          </a:prstGeom>
          <a:noFill/>
        </p:spPr>
        <p:txBody>
          <a:bodyPr wrap="square">
            <a:spAutoFit/>
          </a:bodyPr>
          <a:lstStyle/>
          <a:p>
            <a:r>
              <a:rPr lang="en-IN" b="0" dirty="0">
                <a:effectLst/>
              </a:rPr>
              <a:t> </a:t>
            </a:r>
            <a:endParaRPr lang="en-IN" dirty="0"/>
          </a:p>
        </p:txBody>
      </p:sp>
      <p:sp>
        <p:nvSpPr>
          <p:cNvPr id="12" name="TextBox 11">
            <a:extLst>
              <a:ext uri="{FF2B5EF4-FFF2-40B4-BE49-F238E27FC236}">
                <a16:creationId xmlns:a16="http://schemas.microsoft.com/office/drawing/2014/main" id="{7A5F0465-F271-0767-40B4-EAC860E29E00}"/>
              </a:ext>
            </a:extLst>
          </p:cNvPr>
          <p:cNvSpPr txBox="1"/>
          <p:nvPr/>
        </p:nvSpPr>
        <p:spPr>
          <a:xfrm>
            <a:off x="1407320" y="1619637"/>
            <a:ext cx="4686299" cy="523220"/>
          </a:xfrm>
          <a:prstGeom prst="rect">
            <a:avLst/>
          </a:prstGeom>
          <a:noFill/>
        </p:spPr>
        <p:txBody>
          <a:bodyPr wrap="square">
            <a:spAutoFit/>
          </a:bodyPr>
          <a:lstStyle/>
          <a:p>
            <a:br>
              <a:rPr lang="en-US" dirty="0"/>
            </a:br>
            <a:endParaRPr lang="en-IN" dirty="0"/>
          </a:p>
        </p:txBody>
      </p:sp>
      <p:sp>
        <p:nvSpPr>
          <p:cNvPr id="3" name="TextBox 2">
            <a:extLst>
              <a:ext uri="{FF2B5EF4-FFF2-40B4-BE49-F238E27FC236}">
                <a16:creationId xmlns:a16="http://schemas.microsoft.com/office/drawing/2014/main" id="{12FE597A-8C1E-A29E-25ED-81B4AED267A5}"/>
              </a:ext>
            </a:extLst>
          </p:cNvPr>
          <p:cNvSpPr txBox="1"/>
          <p:nvPr/>
        </p:nvSpPr>
        <p:spPr>
          <a:xfrm>
            <a:off x="0" y="0"/>
            <a:ext cx="12192000" cy="7263527"/>
          </a:xfrm>
          <a:prstGeom prst="rect">
            <a:avLst/>
          </a:prstGeom>
          <a:noFill/>
        </p:spPr>
        <p:txBody>
          <a:bodyPr wrap="square">
            <a:spAutoFit/>
          </a:bodyPr>
          <a:lstStyle/>
          <a:p>
            <a:r>
              <a:rPr lang="en-US" sz="3200" b="1" dirty="0"/>
              <a:t>DATA AUGMENTATION</a:t>
            </a:r>
          </a:p>
          <a:p>
            <a:pPr>
              <a:buFont typeface="Arial" panose="020B0604020202020204" pitchFamily="34" charset="0"/>
              <a:buChar char="•"/>
            </a:pPr>
            <a:r>
              <a:rPr lang="en-US" sz="2400" dirty="0"/>
              <a:t>TECHNIQUES USED:</a:t>
            </a:r>
          </a:p>
          <a:p>
            <a:pPr marL="742950" lvl="1" indent="-285750">
              <a:buFont typeface="Arial" panose="020B0604020202020204" pitchFamily="34" charset="0"/>
              <a:buChar char="•"/>
            </a:pPr>
            <a:r>
              <a:rPr lang="en-US" sz="2400" dirty="0"/>
              <a:t>ROTATION, SCALING, FLIPPING</a:t>
            </a:r>
          </a:p>
          <a:p>
            <a:pPr marL="742950" lvl="1" indent="-285750">
              <a:buFont typeface="Arial" panose="020B0604020202020204" pitchFamily="34" charset="0"/>
              <a:buChar char="•"/>
            </a:pPr>
            <a:r>
              <a:rPr lang="en-US" sz="2400" dirty="0"/>
              <a:t>BRIGHTNESS/CONTRAST ADJUSTMENT</a:t>
            </a:r>
          </a:p>
          <a:p>
            <a:pPr marL="742950" lvl="1" indent="-285750">
              <a:buFont typeface="Arial" panose="020B0604020202020204" pitchFamily="34" charset="0"/>
              <a:buChar char="•"/>
            </a:pPr>
            <a:r>
              <a:rPr lang="en-US" sz="2400" dirty="0"/>
              <a:t>ADDING NOISE, SHEAR TRANSFORMATION</a:t>
            </a:r>
          </a:p>
          <a:p>
            <a:pPr>
              <a:buFont typeface="Arial" panose="020B0604020202020204" pitchFamily="34" charset="0"/>
              <a:buChar char="•"/>
            </a:pPr>
            <a:r>
              <a:rPr lang="en-US" sz="2400" dirty="0"/>
              <a:t>EACH IMAGE AUGMENTED </a:t>
            </a:r>
            <a:r>
              <a:rPr lang="en-US" sz="2400" b="1" dirty="0"/>
              <a:t>3 TIMES</a:t>
            </a:r>
            <a:r>
              <a:rPr lang="en-US" sz="2400" dirty="0"/>
              <a:t> TO IMPROVE MODEL  PERFORMANCE</a:t>
            </a:r>
          </a:p>
          <a:p>
            <a:endParaRPr lang="en-US" b="1" dirty="0"/>
          </a:p>
          <a:p>
            <a:r>
              <a:rPr lang="en-US" sz="3200" b="1" dirty="0"/>
              <a:t>OBJECT DETECTION WITH YOLOV11N,</a:t>
            </a:r>
            <a:r>
              <a:rPr lang="en-IN" sz="3200" dirty="0"/>
              <a:t> </a:t>
            </a:r>
            <a:r>
              <a:rPr lang="en-IN" sz="3200" b="1" dirty="0"/>
              <a:t>YOLOv8n, YOLOv8m, YOLOv8L</a:t>
            </a:r>
            <a:endParaRPr lang="en-US" sz="3200" b="1" dirty="0"/>
          </a:p>
          <a:p>
            <a:pPr>
              <a:buFont typeface="Arial" panose="020B0604020202020204" pitchFamily="34" charset="0"/>
              <a:buChar char="•"/>
            </a:pPr>
            <a:r>
              <a:rPr lang="en-US" sz="3200" b="1" dirty="0"/>
              <a:t>WHY YOLO?</a:t>
            </a:r>
            <a:endParaRPr lang="en-US" sz="3200" dirty="0"/>
          </a:p>
          <a:p>
            <a:pPr marL="742950" lvl="1" indent="-285750">
              <a:buFont typeface="Arial" panose="020B0604020202020204" pitchFamily="34" charset="0"/>
              <a:buChar char="•"/>
            </a:pPr>
            <a:r>
              <a:rPr lang="en-US" sz="2400" dirty="0"/>
              <a:t>HIGH EFFICIENCY &amp; REAL-TIME DETECTION</a:t>
            </a:r>
          </a:p>
          <a:p>
            <a:pPr marL="742950" lvl="1" indent="-285750">
              <a:buFont typeface="Arial" panose="020B0604020202020204" pitchFamily="34" charset="0"/>
              <a:buChar char="•"/>
            </a:pPr>
            <a:r>
              <a:rPr lang="en-US" sz="2400" dirty="0"/>
              <a:t>IMPROVED FEATURE EXTRACTION</a:t>
            </a:r>
          </a:p>
          <a:p>
            <a:pPr>
              <a:buFont typeface="Arial" panose="020B0604020202020204" pitchFamily="34" charset="0"/>
              <a:buChar char="•"/>
            </a:pPr>
            <a:r>
              <a:rPr lang="en-US" sz="2800" b="1" dirty="0"/>
              <a:t>MODEL TRAINING:</a:t>
            </a:r>
            <a:endParaRPr lang="en-US" sz="2800" dirty="0"/>
          </a:p>
          <a:p>
            <a:pPr marL="742950" lvl="1" indent="-285750">
              <a:buFont typeface="Arial" panose="020B0604020202020204" pitchFamily="34" charset="0"/>
              <a:buChar char="•"/>
            </a:pPr>
            <a:r>
              <a:rPr lang="en-US" sz="2800" b="1" dirty="0"/>
              <a:t>EPOCHS:</a:t>
            </a:r>
            <a:r>
              <a:rPr lang="en-US" sz="2800" dirty="0"/>
              <a:t> </a:t>
            </a:r>
            <a:r>
              <a:rPr lang="en-US" sz="2400" dirty="0"/>
              <a:t>50</a:t>
            </a:r>
            <a:r>
              <a:rPr lang="en-US" sz="2800" dirty="0"/>
              <a:t>       </a:t>
            </a:r>
          </a:p>
          <a:p>
            <a:pPr marL="742950" lvl="1" indent="-285750">
              <a:buFont typeface="Arial" panose="020B0604020202020204" pitchFamily="34" charset="0"/>
              <a:buChar char="•"/>
            </a:pPr>
            <a:r>
              <a:rPr lang="en-US" sz="2800" b="1" dirty="0"/>
              <a:t>IMAGE SIZE:</a:t>
            </a:r>
            <a:r>
              <a:rPr lang="en-US" sz="2800" dirty="0"/>
              <a:t> </a:t>
            </a:r>
            <a:r>
              <a:rPr lang="en-US" sz="2400" dirty="0"/>
              <a:t>640PX</a:t>
            </a:r>
          </a:p>
          <a:p>
            <a:pPr marL="742950" lvl="1" indent="-285750">
              <a:buFont typeface="Arial" panose="020B0604020202020204" pitchFamily="34" charset="0"/>
              <a:buChar char="•"/>
            </a:pPr>
            <a:r>
              <a:rPr lang="en-US" sz="2800" b="1" dirty="0"/>
              <a:t>PERFORMANCE METRICS:</a:t>
            </a:r>
            <a:r>
              <a:rPr lang="en-US" sz="2800" dirty="0"/>
              <a:t> </a:t>
            </a:r>
            <a:r>
              <a:rPr lang="en-US" sz="2400" dirty="0"/>
              <a:t>LOSS, MAP</a:t>
            </a:r>
          </a:p>
          <a:p>
            <a:pPr>
              <a:buFont typeface="Arial" panose="020B0604020202020204" pitchFamily="34" charset="0"/>
              <a:buChar char="•"/>
            </a:pPr>
            <a:endParaRPr lang="en-US" sz="3600" dirty="0"/>
          </a:p>
        </p:txBody>
      </p:sp>
      <p:pic>
        <p:nvPicPr>
          <p:cNvPr id="5" name="Picture 4">
            <a:extLst>
              <a:ext uri="{FF2B5EF4-FFF2-40B4-BE49-F238E27FC236}">
                <a16:creationId xmlns:a16="http://schemas.microsoft.com/office/drawing/2014/main" id="{7782939B-658E-FFBB-349D-35E02DD13574}"/>
              </a:ext>
            </a:extLst>
          </p:cNvPr>
          <p:cNvPicPr>
            <a:picLocks noChangeAspect="1"/>
          </p:cNvPicPr>
          <p:nvPr/>
        </p:nvPicPr>
        <p:blipFill>
          <a:blip r:embed="rId2"/>
          <a:stretch>
            <a:fillRect/>
          </a:stretch>
        </p:blipFill>
        <p:spPr>
          <a:xfrm>
            <a:off x="9415463" y="6029324"/>
            <a:ext cx="2683668" cy="771525"/>
          </a:xfrm>
          <a:prstGeom prst="rect">
            <a:avLst/>
          </a:prstGeom>
        </p:spPr>
      </p:pic>
    </p:spTree>
    <p:extLst>
      <p:ext uri="{BB962C8B-B14F-4D97-AF65-F5344CB8AC3E}">
        <p14:creationId xmlns:p14="http://schemas.microsoft.com/office/powerpoint/2010/main" val="2219468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2413F2-32C1-F67C-490F-72C5D6A2CA7E}"/>
              </a:ext>
            </a:extLst>
          </p:cNvPr>
          <p:cNvSpPr txBox="1"/>
          <p:nvPr/>
        </p:nvSpPr>
        <p:spPr>
          <a:xfrm>
            <a:off x="1373981" y="3871794"/>
            <a:ext cx="9444037" cy="830997"/>
          </a:xfrm>
          <a:prstGeom prst="rect">
            <a:avLst/>
          </a:prstGeom>
          <a:noFill/>
        </p:spPr>
        <p:txBody>
          <a:bodyPr wrap="square">
            <a:spAutoFit/>
          </a:bodyPr>
          <a:lstStyle/>
          <a:p>
            <a:br>
              <a:rPr lang="en-US" sz="2400" b="0" dirty="0">
                <a:effectLst/>
              </a:rPr>
            </a:br>
            <a:endParaRPr lang="en-IN" sz="2400" dirty="0"/>
          </a:p>
        </p:txBody>
      </p:sp>
      <p:sp>
        <p:nvSpPr>
          <p:cNvPr id="3" name="TextBox 2">
            <a:extLst>
              <a:ext uri="{FF2B5EF4-FFF2-40B4-BE49-F238E27FC236}">
                <a16:creationId xmlns:a16="http://schemas.microsoft.com/office/drawing/2014/main" id="{495335A8-DADA-B906-C61C-91829F4990C6}"/>
              </a:ext>
            </a:extLst>
          </p:cNvPr>
          <p:cNvSpPr txBox="1"/>
          <p:nvPr/>
        </p:nvSpPr>
        <p:spPr>
          <a:xfrm>
            <a:off x="0" y="160021"/>
            <a:ext cx="12192000" cy="7232749"/>
          </a:xfrm>
          <a:prstGeom prst="rect">
            <a:avLst/>
          </a:prstGeom>
          <a:noFill/>
        </p:spPr>
        <p:txBody>
          <a:bodyPr wrap="square">
            <a:spAutoFit/>
          </a:bodyPr>
          <a:lstStyle/>
          <a:p>
            <a:pPr marL="457200" indent="-457200">
              <a:buFont typeface="Wingdings" panose="05000000000000000000" pitchFamily="2" charset="2"/>
              <a:buChar char="q"/>
            </a:pPr>
            <a:r>
              <a:rPr lang="en-US" sz="3200" b="1" dirty="0"/>
              <a:t>POSE ESTIMATION WITH YOLOV11N</a:t>
            </a:r>
          </a:p>
          <a:p>
            <a:pPr>
              <a:buFont typeface="Arial" panose="020B0604020202020204" pitchFamily="34" charset="0"/>
              <a:buChar char="•"/>
            </a:pPr>
            <a:r>
              <a:rPr lang="en-US" sz="2800" dirty="0"/>
              <a:t>INSTALLED DEPENDENCIES FOR POSE ESTIMATION</a:t>
            </a:r>
          </a:p>
          <a:p>
            <a:pPr>
              <a:buFont typeface="Arial" panose="020B0604020202020204" pitchFamily="34" charset="0"/>
              <a:buChar char="•"/>
            </a:pPr>
            <a:r>
              <a:rPr lang="en-US" sz="2800" dirty="0"/>
              <a:t>ACTION FOR POSE ESTIMATION (BENDING,JUMPING,RUNNING, LAYING ON FLOOR,FACE TOUCHING,ARM RAISING)</a:t>
            </a:r>
          </a:p>
          <a:p>
            <a:pPr>
              <a:buFont typeface="Arial" panose="020B0604020202020204" pitchFamily="34" charset="0"/>
              <a:buChar char="•"/>
            </a:pPr>
            <a:r>
              <a:rPr lang="en-US" sz="2800" dirty="0"/>
              <a:t>USED YOLOV11N-POSE MODEL</a:t>
            </a:r>
          </a:p>
          <a:p>
            <a:pPr>
              <a:buFont typeface="Arial" panose="020B0604020202020204" pitchFamily="34" charset="0"/>
              <a:buChar char="•"/>
            </a:pPr>
            <a:r>
              <a:rPr lang="en-US" sz="2800" dirty="0"/>
              <a:t>EVALUATED WORKER POSTURE &amp; ACTIVITY COMPLIANCE</a:t>
            </a:r>
          </a:p>
          <a:p>
            <a:endParaRPr lang="en-US" sz="3200" b="1" dirty="0"/>
          </a:p>
          <a:p>
            <a:pPr marL="457200" indent="-457200">
              <a:buFont typeface="Wingdings" panose="05000000000000000000" pitchFamily="2" charset="2"/>
              <a:buChar char="q"/>
            </a:pPr>
            <a:r>
              <a:rPr lang="en-US" sz="3200" b="1" dirty="0"/>
              <a:t>DEPLOYMENT WITH STREAMLIT</a:t>
            </a:r>
          </a:p>
          <a:p>
            <a:pPr>
              <a:buFont typeface="Arial" panose="020B0604020202020204" pitchFamily="34" charset="0"/>
              <a:buChar char="•"/>
            </a:pPr>
            <a:r>
              <a:rPr lang="en-US" sz="3200" b="1" dirty="0"/>
              <a:t>WHY STREAMLIT?</a:t>
            </a:r>
            <a:endParaRPr lang="en-US" sz="3200" dirty="0"/>
          </a:p>
          <a:p>
            <a:pPr marL="742950" lvl="1" indent="-285750">
              <a:buFont typeface="Arial" panose="020B0604020202020204" pitchFamily="34" charset="0"/>
              <a:buChar char="•"/>
            </a:pPr>
            <a:r>
              <a:rPr lang="en-US" sz="2800" dirty="0"/>
              <a:t>LIGHTWEIGHT &amp; INTERACTIVE WEB-BASED UI</a:t>
            </a:r>
          </a:p>
          <a:p>
            <a:pPr marL="457200" lvl="1"/>
            <a:endParaRPr lang="en-US" sz="2800" dirty="0"/>
          </a:p>
          <a:p>
            <a:pPr>
              <a:buFont typeface="Arial" panose="020B0604020202020204" pitchFamily="34" charset="0"/>
              <a:buChar char="•"/>
            </a:pPr>
            <a:r>
              <a:rPr lang="en-US" sz="2800" b="1" dirty="0"/>
              <a:t>FEATURES IMPLEMENTED:</a:t>
            </a:r>
            <a:endParaRPr lang="en-US" sz="2800" dirty="0"/>
          </a:p>
          <a:p>
            <a:pPr marL="742950" lvl="1" indent="-285750">
              <a:buFont typeface="Arial" panose="020B0604020202020204" pitchFamily="34" charset="0"/>
              <a:buChar char="•"/>
            </a:pPr>
            <a:r>
              <a:rPr lang="en-US" sz="2800" dirty="0"/>
              <a:t>UPLOAD IMAGES (JPG, PNG)</a:t>
            </a:r>
          </a:p>
          <a:p>
            <a:pPr marL="742950" lvl="1" indent="-285750">
              <a:buFont typeface="Arial" panose="020B0604020202020204" pitchFamily="34" charset="0"/>
              <a:buChar char="•"/>
            </a:pPr>
            <a:r>
              <a:rPr lang="en-US" sz="2800" dirty="0"/>
              <a:t>REAL-TIME OBJECT DETECTION &amp; POSE ESTIMATION</a:t>
            </a:r>
          </a:p>
          <a:p>
            <a:pPr marL="742950" lvl="1" indent="-285750">
              <a:buFont typeface="Arial" panose="020B0604020202020204" pitchFamily="34" charset="0"/>
              <a:buChar char="•"/>
            </a:pPr>
            <a:r>
              <a:rPr lang="en-US" sz="2800" dirty="0"/>
              <a:t>COMPLIANCE STATUS DISPLAY</a:t>
            </a:r>
          </a:p>
          <a:p>
            <a:pPr>
              <a:buFont typeface="Arial" panose="020B0604020202020204" pitchFamily="34" charset="0"/>
              <a:buChar char="•"/>
            </a:pPr>
            <a:endParaRPr lang="en-US" sz="2800" dirty="0"/>
          </a:p>
        </p:txBody>
      </p:sp>
      <p:pic>
        <p:nvPicPr>
          <p:cNvPr id="4" name="Picture 3">
            <a:extLst>
              <a:ext uri="{FF2B5EF4-FFF2-40B4-BE49-F238E27FC236}">
                <a16:creationId xmlns:a16="http://schemas.microsoft.com/office/drawing/2014/main" id="{31F6D4C0-2A65-00CF-C97B-442F60F95FF1}"/>
              </a:ext>
            </a:extLst>
          </p:cNvPr>
          <p:cNvPicPr>
            <a:picLocks noChangeAspect="1"/>
          </p:cNvPicPr>
          <p:nvPr/>
        </p:nvPicPr>
        <p:blipFill>
          <a:blip r:embed="rId2"/>
          <a:stretch>
            <a:fillRect/>
          </a:stretch>
        </p:blipFill>
        <p:spPr>
          <a:xfrm>
            <a:off x="10472737" y="5846447"/>
            <a:ext cx="1497805" cy="1011553"/>
          </a:xfrm>
          <a:prstGeom prst="rect">
            <a:avLst/>
          </a:prstGeom>
        </p:spPr>
      </p:pic>
    </p:spTree>
    <p:extLst>
      <p:ext uri="{BB962C8B-B14F-4D97-AF65-F5344CB8AC3E}">
        <p14:creationId xmlns:p14="http://schemas.microsoft.com/office/powerpoint/2010/main" val="256462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1027B6-6A23-1980-5776-1CB187E0B30B}"/>
              </a:ext>
            </a:extLst>
          </p:cNvPr>
          <p:cNvSpPr txBox="1"/>
          <p:nvPr/>
        </p:nvSpPr>
        <p:spPr>
          <a:xfrm>
            <a:off x="-59055" y="1954531"/>
            <a:ext cx="12310110" cy="3662541"/>
          </a:xfrm>
          <a:prstGeom prst="rect">
            <a:avLst/>
          </a:prstGeom>
          <a:noFill/>
        </p:spPr>
        <p:txBody>
          <a:bodyPr wrap="square">
            <a:spAutoFit/>
          </a:bodyPr>
          <a:lstStyle/>
          <a:p>
            <a:pPr marL="457200" indent="-457200">
              <a:buFont typeface="Wingdings" panose="05000000000000000000" pitchFamily="2" charset="2"/>
              <a:buChar char="q"/>
            </a:pPr>
            <a:r>
              <a:rPr lang="en-US" sz="3200" b="1" dirty="0"/>
              <a:t>CONCLUSION</a:t>
            </a:r>
          </a:p>
          <a:p>
            <a:endParaRPr lang="en-US" sz="3200" b="1" dirty="0"/>
          </a:p>
          <a:p>
            <a:pPr>
              <a:buFont typeface="Arial" panose="020B0604020202020204" pitchFamily="34" charset="0"/>
              <a:buChar char="•"/>
            </a:pPr>
            <a:r>
              <a:rPr lang="en-US" sz="2800" dirty="0"/>
              <a:t>SUCCESSFULLY IMPLEMENTED AI-POWERED COMPLIANCE MONITORING.</a:t>
            </a:r>
          </a:p>
          <a:p>
            <a:endParaRPr lang="en-US" sz="2800" dirty="0"/>
          </a:p>
          <a:p>
            <a:pPr>
              <a:buFont typeface="Arial" panose="020B0604020202020204" pitchFamily="34" charset="0"/>
              <a:buChar char="•"/>
            </a:pPr>
            <a:r>
              <a:rPr lang="en-US" sz="2800" dirty="0"/>
              <a:t>AUTOMATED REAL-TIME SAFETY TRACKING</a:t>
            </a:r>
          </a:p>
          <a:p>
            <a:pPr>
              <a:buFont typeface="Arial" panose="020B0604020202020204" pitchFamily="34" charset="0"/>
              <a:buChar char="•"/>
            </a:pPr>
            <a:endParaRPr lang="en-US" sz="2800" dirty="0"/>
          </a:p>
          <a:p>
            <a:pPr>
              <a:buFont typeface="Arial" panose="020B0604020202020204" pitchFamily="34" charset="0"/>
              <a:buChar char="•"/>
            </a:pPr>
            <a:r>
              <a:rPr lang="en-US" sz="2800" dirty="0"/>
              <a:t>DEPLOYMENT ENABLES EASY WORKPLACE MONITORING</a:t>
            </a:r>
          </a:p>
        </p:txBody>
      </p:sp>
      <p:pic>
        <p:nvPicPr>
          <p:cNvPr id="4" name="Picture 3">
            <a:extLst>
              <a:ext uri="{FF2B5EF4-FFF2-40B4-BE49-F238E27FC236}">
                <a16:creationId xmlns:a16="http://schemas.microsoft.com/office/drawing/2014/main" id="{73533315-B422-D378-7FD5-8E118DCEEDD4}"/>
              </a:ext>
            </a:extLst>
          </p:cNvPr>
          <p:cNvPicPr>
            <a:picLocks noChangeAspect="1"/>
          </p:cNvPicPr>
          <p:nvPr/>
        </p:nvPicPr>
        <p:blipFill>
          <a:blip r:embed="rId2"/>
          <a:stretch>
            <a:fillRect/>
          </a:stretch>
        </p:blipFill>
        <p:spPr>
          <a:xfrm>
            <a:off x="8858251" y="6081712"/>
            <a:ext cx="3148012" cy="776288"/>
          </a:xfrm>
          <a:prstGeom prst="rect">
            <a:avLst/>
          </a:prstGeom>
        </p:spPr>
      </p:pic>
    </p:spTree>
    <p:extLst>
      <p:ext uri="{BB962C8B-B14F-4D97-AF65-F5344CB8AC3E}">
        <p14:creationId xmlns:p14="http://schemas.microsoft.com/office/powerpoint/2010/main" val="2599142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122A86-AFF6-BE19-C34B-DBF50149540C}"/>
              </a:ext>
            </a:extLst>
          </p:cNvPr>
          <p:cNvSpPr txBox="1"/>
          <p:nvPr/>
        </p:nvSpPr>
        <p:spPr>
          <a:xfrm>
            <a:off x="788193" y="1472327"/>
            <a:ext cx="10615613" cy="3693319"/>
          </a:xfrm>
          <a:prstGeom prst="rect">
            <a:avLst/>
          </a:prstGeom>
          <a:noFill/>
        </p:spPr>
        <p:txBody>
          <a:bodyPr wrap="square">
            <a:spAutoFit/>
          </a:bodyPr>
          <a:lstStyle/>
          <a:p>
            <a:pPr rtl="0"/>
            <a:r>
              <a:rPr lang="en-IN" sz="9600" b="0" i="0" u="none" strike="noStrike" dirty="0">
                <a:solidFill>
                  <a:srgbClr val="008EC2"/>
                </a:solidFill>
                <a:effectLst/>
                <a:latin typeface="Arial" panose="020B0604020202020204" pitchFamily="34" charset="0"/>
              </a:rPr>
              <a:t>PROJECT</a:t>
            </a:r>
            <a:endParaRPr lang="en-IN" b="0" dirty="0">
              <a:effectLst/>
            </a:endParaRPr>
          </a:p>
          <a:p>
            <a:pPr rtl="0"/>
            <a:br>
              <a:rPr lang="en-IN" b="0" dirty="0">
                <a:effectLst/>
              </a:rPr>
            </a:br>
            <a:r>
              <a:rPr lang="en-IN" sz="9600" b="0" i="0" u="none" strike="noStrike" dirty="0">
                <a:solidFill>
                  <a:srgbClr val="FEA002"/>
                </a:solidFill>
                <a:effectLst/>
                <a:latin typeface="Arial" panose="020B0604020202020204" pitchFamily="34" charset="0"/>
              </a:rPr>
              <a:t>CHALLENGES</a:t>
            </a:r>
            <a:endParaRPr lang="en-IN" b="0" dirty="0">
              <a:effectLst/>
            </a:endParaRPr>
          </a:p>
          <a:p>
            <a:br>
              <a:rPr lang="en-IN" dirty="0"/>
            </a:br>
            <a:endParaRPr lang="en-IN" dirty="0"/>
          </a:p>
        </p:txBody>
      </p:sp>
      <p:pic>
        <p:nvPicPr>
          <p:cNvPr id="3" name="Picture 2">
            <a:extLst>
              <a:ext uri="{FF2B5EF4-FFF2-40B4-BE49-F238E27FC236}">
                <a16:creationId xmlns:a16="http://schemas.microsoft.com/office/drawing/2014/main" id="{0BE7753E-F5DD-65B2-023E-186B0F6B00FE}"/>
              </a:ext>
            </a:extLst>
          </p:cNvPr>
          <p:cNvPicPr>
            <a:picLocks noChangeAspect="1"/>
          </p:cNvPicPr>
          <p:nvPr/>
        </p:nvPicPr>
        <p:blipFill>
          <a:blip r:embed="rId2"/>
          <a:stretch>
            <a:fillRect/>
          </a:stretch>
        </p:blipFill>
        <p:spPr>
          <a:xfrm>
            <a:off x="9658350" y="5794296"/>
            <a:ext cx="2533650" cy="1063704"/>
          </a:xfrm>
          <a:prstGeom prst="rect">
            <a:avLst/>
          </a:prstGeom>
        </p:spPr>
      </p:pic>
    </p:spTree>
    <p:extLst>
      <p:ext uri="{BB962C8B-B14F-4D97-AF65-F5344CB8AC3E}">
        <p14:creationId xmlns:p14="http://schemas.microsoft.com/office/powerpoint/2010/main" val="3913315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0279-F826-E4A7-A2FC-7035458A9849}"/>
              </a:ext>
            </a:extLst>
          </p:cNvPr>
          <p:cNvSpPr>
            <a:spLocks noGrp="1"/>
          </p:cNvSpPr>
          <p:nvPr>
            <p:ph type="title"/>
          </p:nvPr>
        </p:nvSpPr>
        <p:spPr>
          <a:xfrm>
            <a:off x="0" y="1"/>
            <a:ext cx="12192000" cy="6858000"/>
          </a:xfrm>
        </p:spPr>
        <p:txBody>
          <a:bodyPr>
            <a:normAutofit/>
          </a:bodyPr>
          <a:lstStyle/>
          <a:p>
            <a:r>
              <a:rPr lang="en-US" sz="3200" b="1" dirty="0"/>
              <a:t>1. DATA COLLECTION CHALLENGES</a:t>
            </a:r>
            <a:br>
              <a:rPr lang="en-US" b="1" dirty="0"/>
            </a:br>
            <a:r>
              <a:rPr lang="en-US" sz="2800" b="1" dirty="0"/>
              <a:t>LIMITED DATASET:</a:t>
            </a:r>
            <a:r>
              <a:rPr lang="en-US" sz="2800" dirty="0"/>
              <a:t> COLLECTING ENOUGH HIGH-QUALITY WORKPLACE IMAGES CAN BE DIFFICULT.</a:t>
            </a:r>
            <a:br>
              <a:rPr lang="en-US" sz="2800" dirty="0"/>
            </a:br>
            <a:br>
              <a:rPr lang="en-US" dirty="0"/>
            </a:br>
            <a:r>
              <a:rPr lang="en-US" sz="2800" b="1" dirty="0"/>
              <a:t>DIVERSITY OF WORK ENVIRONMENTS:</a:t>
            </a:r>
            <a:r>
              <a:rPr lang="en-US" sz="2800" dirty="0"/>
              <a:t> DIFFERENT WORKPLACES HAVE VARYING LIGHTING CONDITIONS, ANGLES, AND SAFETY PROTOCOLS.</a:t>
            </a:r>
            <a:br>
              <a:rPr lang="en-US" sz="2800" dirty="0"/>
            </a:br>
            <a:br>
              <a:rPr lang="en-US" sz="2800" dirty="0"/>
            </a:br>
            <a:r>
              <a:rPr lang="en-US" sz="2800" b="1" dirty="0"/>
              <a:t>VIDEO FRAME EXTRACTION ISSUES:</a:t>
            </a:r>
            <a:r>
              <a:rPr lang="en-US" sz="2800" dirty="0"/>
              <a:t> EXTRACTING MEANINGFUL FRAMES FROM VIDEOS WHILE AVOIDING REDUNDANCY OR BLURRINESS.</a:t>
            </a:r>
            <a:br>
              <a:rPr lang="en-US" sz="2800" dirty="0"/>
            </a:br>
            <a:endParaRPr lang="en-IN" sz="2800" dirty="0"/>
          </a:p>
        </p:txBody>
      </p:sp>
      <p:pic>
        <p:nvPicPr>
          <p:cNvPr id="4" name="Picture 3">
            <a:extLst>
              <a:ext uri="{FF2B5EF4-FFF2-40B4-BE49-F238E27FC236}">
                <a16:creationId xmlns:a16="http://schemas.microsoft.com/office/drawing/2014/main" id="{C19F1A3C-51CD-F199-5383-0EAAF6A3B3C5}"/>
              </a:ext>
            </a:extLst>
          </p:cNvPr>
          <p:cNvPicPr>
            <a:picLocks noChangeAspect="1"/>
          </p:cNvPicPr>
          <p:nvPr/>
        </p:nvPicPr>
        <p:blipFill>
          <a:blip r:embed="rId2"/>
          <a:stretch>
            <a:fillRect/>
          </a:stretch>
        </p:blipFill>
        <p:spPr>
          <a:xfrm>
            <a:off x="9829800" y="5767385"/>
            <a:ext cx="2362200" cy="1090614"/>
          </a:xfrm>
          <a:prstGeom prst="rect">
            <a:avLst/>
          </a:prstGeom>
        </p:spPr>
      </p:pic>
    </p:spTree>
    <p:extLst>
      <p:ext uri="{BB962C8B-B14F-4D97-AF65-F5344CB8AC3E}">
        <p14:creationId xmlns:p14="http://schemas.microsoft.com/office/powerpoint/2010/main" val="1855742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3F03-AA06-FD36-62F0-6A15DB5804B0}"/>
              </a:ext>
            </a:extLst>
          </p:cNvPr>
          <p:cNvSpPr>
            <a:spLocks noGrp="1"/>
          </p:cNvSpPr>
          <p:nvPr>
            <p:ph type="title"/>
          </p:nvPr>
        </p:nvSpPr>
        <p:spPr>
          <a:xfrm>
            <a:off x="0" y="365125"/>
            <a:ext cx="12192000" cy="5922553"/>
          </a:xfrm>
        </p:spPr>
        <p:txBody>
          <a:bodyPr>
            <a:normAutofit/>
          </a:bodyPr>
          <a:lstStyle/>
          <a:p>
            <a:r>
              <a:rPr lang="en-US" sz="3600" b="1" dirty="0"/>
              <a:t>2. ANNOTATION AND LABELING CHALLENGES</a:t>
            </a:r>
            <a:br>
              <a:rPr lang="en-US" b="1" dirty="0"/>
            </a:br>
            <a:r>
              <a:rPr lang="en-US" sz="2800" b="1" dirty="0"/>
              <a:t>MANUAL EFFORT:</a:t>
            </a:r>
            <a:r>
              <a:rPr lang="en-US" sz="2800" dirty="0"/>
              <a:t> ANNOTATING IMAGES IN </a:t>
            </a:r>
            <a:r>
              <a:rPr lang="en-US" sz="2800" b="1" dirty="0"/>
              <a:t>ROBOFLOW</a:t>
            </a:r>
            <a:r>
              <a:rPr lang="en-US" sz="2800" dirty="0"/>
              <a:t> IS TIME-CONSUMING.</a:t>
            </a:r>
            <a:br>
              <a:rPr lang="en-US" dirty="0"/>
            </a:br>
            <a:br>
              <a:rPr lang="en-US" dirty="0"/>
            </a:br>
            <a:r>
              <a:rPr lang="en-US" sz="3600" b="1" dirty="0"/>
              <a:t>CLASS IMBALANCE:</a:t>
            </a:r>
            <a:r>
              <a:rPr lang="en-US" sz="3600" dirty="0"/>
              <a:t> </a:t>
            </a:r>
            <a:br>
              <a:rPr lang="en-US" sz="3600" dirty="0"/>
            </a:br>
            <a:r>
              <a:rPr lang="en-US" sz="2800" dirty="0"/>
              <a:t>SOME SAFETY GEAR ITEMS (E.G., GLOVES, GOGGLES) MIGHT APPEAR LESS FREQUENTLY, LEADING TO BIASED MODEL PERFORMANCE.</a:t>
            </a:r>
            <a:br>
              <a:rPr lang="en-US" dirty="0"/>
            </a:br>
            <a:br>
              <a:rPr lang="en-US" dirty="0"/>
            </a:br>
            <a:r>
              <a:rPr lang="en-US" sz="3600" b="1" dirty="0"/>
              <a:t>COMPLEX SCENES:</a:t>
            </a:r>
            <a:br>
              <a:rPr lang="en-US" b="1" dirty="0"/>
            </a:br>
            <a:r>
              <a:rPr lang="en-US" sz="2800" dirty="0"/>
              <a:t>MULTIPLE WORKERS AND OVERLAPPING OBJECTS CAN MAKE ANNOTATION DIFFICULT</a:t>
            </a:r>
            <a:br>
              <a:rPr lang="en-US" dirty="0"/>
            </a:br>
            <a:endParaRPr lang="en-IN" dirty="0"/>
          </a:p>
        </p:txBody>
      </p:sp>
      <p:pic>
        <p:nvPicPr>
          <p:cNvPr id="4" name="Picture 3">
            <a:extLst>
              <a:ext uri="{FF2B5EF4-FFF2-40B4-BE49-F238E27FC236}">
                <a16:creationId xmlns:a16="http://schemas.microsoft.com/office/drawing/2014/main" id="{D0106E0E-3B1A-75C6-FEE1-9B4CD5A66FDF}"/>
              </a:ext>
            </a:extLst>
          </p:cNvPr>
          <p:cNvPicPr>
            <a:picLocks noChangeAspect="1"/>
          </p:cNvPicPr>
          <p:nvPr/>
        </p:nvPicPr>
        <p:blipFill>
          <a:blip r:embed="rId2"/>
          <a:stretch>
            <a:fillRect/>
          </a:stretch>
        </p:blipFill>
        <p:spPr>
          <a:xfrm>
            <a:off x="9144000" y="5629274"/>
            <a:ext cx="2905125" cy="1028699"/>
          </a:xfrm>
          <a:prstGeom prst="rect">
            <a:avLst/>
          </a:prstGeom>
        </p:spPr>
      </p:pic>
    </p:spTree>
    <p:extLst>
      <p:ext uri="{BB962C8B-B14F-4D97-AF65-F5344CB8AC3E}">
        <p14:creationId xmlns:p14="http://schemas.microsoft.com/office/powerpoint/2010/main" val="3595632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6C83-B2F0-0479-0502-42CC684742AD}"/>
              </a:ext>
            </a:extLst>
          </p:cNvPr>
          <p:cNvSpPr>
            <a:spLocks noGrp="1"/>
          </p:cNvSpPr>
          <p:nvPr>
            <p:ph type="title"/>
          </p:nvPr>
        </p:nvSpPr>
        <p:spPr>
          <a:xfrm>
            <a:off x="-84841" y="365125"/>
            <a:ext cx="12276841" cy="6492875"/>
          </a:xfrm>
        </p:spPr>
        <p:txBody>
          <a:bodyPr>
            <a:normAutofit/>
          </a:bodyPr>
          <a:lstStyle/>
          <a:p>
            <a:r>
              <a:rPr lang="en-IN" sz="3200" dirty="0"/>
              <a:t>3.</a:t>
            </a:r>
            <a:r>
              <a:rPr lang="en-US" sz="3200" b="1" dirty="0"/>
              <a:t>MODEL TRAINING CHALLENGES</a:t>
            </a:r>
            <a:br>
              <a:rPr lang="en-US" b="1" dirty="0"/>
            </a:br>
            <a:r>
              <a:rPr lang="en-US" sz="2800" b="1" dirty="0"/>
              <a:t>COMPUTATIONAL REQUIREMENTS:</a:t>
            </a:r>
            <a:r>
              <a:rPr lang="en-US" sz="2800" dirty="0"/>
              <a:t> TRAINING </a:t>
            </a:r>
            <a:r>
              <a:rPr lang="en-US" sz="2800" b="1" dirty="0"/>
              <a:t>YOLOV11N</a:t>
            </a:r>
            <a:r>
              <a:rPr lang="en-US" sz="2800" dirty="0"/>
              <a:t> REQUIRES HIGH GPU RESOURCES, WHICH MAY BE COSTLY.</a:t>
            </a:r>
            <a:br>
              <a:rPr lang="en-US" sz="3100" dirty="0"/>
            </a:br>
            <a:br>
              <a:rPr lang="en-US" dirty="0"/>
            </a:br>
            <a:r>
              <a:rPr lang="en-US" sz="3200" b="1" dirty="0"/>
              <a:t>HYPERPARAMETER TUNING:</a:t>
            </a:r>
            <a:r>
              <a:rPr lang="en-US" sz="3200" dirty="0"/>
              <a:t> </a:t>
            </a:r>
            <a:r>
              <a:rPr lang="en-US" sz="2800" dirty="0"/>
              <a:t>FINDING THE BEST </a:t>
            </a:r>
            <a:r>
              <a:rPr lang="en-US" sz="2800" b="1" dirty="0"/>
              <a:t>LEARNING RATE, BATCH SIZE, AND EPOCH COUNT</a:t>
            </a:r>
            <a:r>
              <a:rPr lang="en-US" sz="2800" dirty="0"/>
              <a:t> FOR OPTIMAL PERFORMANCE.</a:t>
            </a:r>
            <a:br>
              <a:rPr lang="en-US" sz="2800" dirty="0"/>
            </a:br>
            <a:br>
              <a:rPr lang="en-US" dirty="0"/>
            </a:br>
            <a:r>
              <a:rPr lang="en-US" sz="3200" b="1" dirty="0"/>
              <a:t>FALSE POSITIVES &amp; FALSE NEGATIVES:</a:t>
            </a:r>
            <a:r>
              <a:rPr lang="en-US" sz="3200" dirty="0"/>
              <a:t> </a:t>
            </a:r>
            <a:r>
              <a:rPr lang="en-US" sz="2800" dirty="0"/>
              <a:t>MODEL MIGHT DETECT SAFETY GEAR INCORRECTLY, LEADING TO INACCURATE COMPLIANCE REPORTING.</a:t>
            </a:r>
            <a:br>
              <a:rPr lang="en-US" dirty="0"/>
            </a:br>
            <a:endParaRPr lang="en-IN" dirty="0"/>
          </a:p>
        </p:txBody>
      </p:sp>
      <p:pic>
        <p:nvPicPr>
          <p:cNvPr id="4" name="Picture 3">
            <a:extLst>
              <a:ext uri="{FF2B5EF4-FFF2-40B4-BE49-F238E27FC236}">
                <a16:creationId xmlns:a16="http://schemas.microsoft.com/office/drawing/2014/main" id="{4876799F-77FC-03B1-076D-8992BDD2C8C2}"/>
              </a:ext>
            </a:extLst>
          </p:cNvPr>
          <p:cNvPicPr>
            <a:picLocks noChangeAspect="1"/>
          </p:cNvPicPr>
          <p:nvPr/>
        </p:nvPicPr>
        <p:blipFill>
          <a:blip r:embed="rId2"/>
          <a:stretch>
            <a:fillRect/>
          </a:stretch>
        </p:blipFill>
        <p:spPr>
          <a:xfrm>
            <a:off x="9429750" y="5886450"/>
            <a:ext cx="2762250" cy="971550"/>
          </a:xfrm>
          <a:prstGeom prst="rect">
            <a:avLst/>
          </a:prstGeom>
        </p:spPr>
      </p:pic>
    </p:spTree>
    <p:extLst>
      <p:ext uri="{BB962C8B-B14F-4D97-AF65-F5344CB8AC3E}">
        <p14:creationId xmlns:p14="http://schemas.microsoft.com/office/powerpoint/2010/main" val="1959574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AF71-AEE5-DE1A-F2A3-D729BB57242C}"/>
              </a:ext>
            </a:extLst>
          </p:cNvPr>
          <p:cNvSpPr>
            <a:spLocks noGrp="1"/>
          </p:cNvSpPr>
          <p:nvPr>
            <p:ph type="title"/>
          </p:nvPr>
        </p:nvSpPr>
        <p:spPr>
          <a:xfrm>
            <a:off x="75415" y="365124"/>
            <a:ext cx="11708090" cy="6412747"/>
          </a:xfrm>
        </p:spPr>
        <p:txBody>
          <a:bodyPr>
            <a:normAutofit/>
          </a:bodyPr>
          <a:lstStyle/>
          <a:p>
            <a:r>
              <a:rPr lang="en-US" sz="3200" b="1" dirty="0"/>
              <a:t>4. POSE ESTIMATION CHALLENGES</a:t>
            </a:r>
            <a:br>
              <a:rPr lang="en-US" b="1" dirty="0"/>
            </a:br>
            <a:r>
              <a:rPr lang="en-US" sz="3200" b="1" dirty="0"/>
              <a:t>OCCLUSIONS:</a:t>
            </a:r>
            <a:r>
              <a:rPr lang="en-US" sz="3200" dirty="0"/>
              <a:t> </a:t>
            </a:r>
            <a:r>
              <a:rPr lang="en-US" sz="2800" dirty="0"/>
              <a:t>WORKERS’ BODY PARTS MAY BE BLOCKED BY MACHINERY OR OTHER WORKERS.</a:t>
            </a:r>
            <a:br>
              <a:rPr lang="en-US" sz="2800" dirty="0"/>
            </a:br>
            <a:br>
              <a:rPr lang="en-US" dirty="0"/>
            </a:br>
            <a:r>
              <a:rPr lang="en-US" sz="3200" b="1" dirty="0"/>
              <a:t>INCORRECT POSTURE DETECTION:</a:t>
            </a:r>
            <a:r>
              <a:rPr lang="en-US" sz="3200" dirty="0"/>
              <a:t> </a:t>
            </a:r>
            <a:r>
              <a:rPr lang="en-US" sz="2800" dirty="0"/>
              <a:t>VARIATIONS IN WORKER MOVEMENTS CAN LEAD TO INCORRECT POSE CLASSIFICATION.</a:t>
            </a:r>
            <a:br>
              <a:rPr lang="en-US" sz="2800" dirty="0"/>
            </a:br>
            <a:br>
              <a:rPr lang="en-US" dirty="0"/>
            </a:br>
            <a:r>
              <a:rPr lang="en-US" sz="3200" b="1" dirty="0"/>
              <a:t>MODEL GENERALIZATION:</a:t>
            </a:r>
            <a:r>
              <a:rPr lang="en-US" sz="3200" dirty="0"/>
              <a:t> </a:t>
            </a:r>
            <a:r>
              <a:rPr lang="en-US" sz="2800" dirty="0"/>
              <a:t>ENSURING THE MODEL WORKS WELL ACROSS DIFFERENT WORKPLACES AND JOB ROLES.</a:t>
            </a:r>
            <a:br>
              <a:rPr lang="en-US" dirty="0"/>
            </a:br>
            <a:endParaRPr lang="en-IN" dirty="0"/>
          </a:p>
        </p:txBody>
      </p:sp>
      <p:pic>
        <p:nvPicPr>
          <p:cNvPr id="4" name="Picture 3">
            <a:extLst>
              <a:ext uri="{FF2B5EF4-FFF2-40B4-BE49-F238E27FC236}">
                <a16:creationId xmlns:a16="http://schemas.microsoft.com/office/drawing/2014/main" id="{1EE9704B-88A6-42BE-DEAA-6DF19CED0F8F}"/>
              </a:ext>
            </a:extLst>
          </p:cNvPr>
          <p:cNvPicPr>
            <a:picLocks noChangeAspect="1"/>
          </p:cNvPicPr>
          <p:nvPr/>
        </p:nvPicPr>
        <p:blipFill>
          <a:blip r:embed="rId2"/>
          <a:stretch>
            <a:fillRect/>
          </a:stretch>
        </p:blipFill>
        <p:spPr>
          <a:xfrm>
            <a:off x="10211585" y="6049964"/>
            <a:ext cx="1905000" cy="734258"/>
          </a:xfrm>
          <a:prstGeom prst="rect">
            <a:avLst/>
          </a:prstGeom>
        </p:spPr>
      </p:pic>
    </p:spTree>
    <p:extLst>
      <p:ext uri="{BB962C8B-B14F-4D97-AF65-F5344CB8AC3E}">
        <p14:creationId xmlns:p14="http://schemas.microsoft.com/office/powerpoint/2010/main" val="4187607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C10A7-2BA6-9C81-4DFE-40566B033551}"/>
              </a:ext>
            </a:extLst>
          </p:cNvPr>
          <p:cNvSpPr>
            <a:spLocks noGrp="1"/>
          </p:cNvSpPr>
          <p:nvPr>
            <p:ph type="title"/>
          </p:nvPr>
        </p:nvSpPr>
        <p:spPr>
          <a:xfrm>
            <a:off x="838200" y="365125"/>
            <a:ext cx="11096134" cy="5545481"/>
          </a:xfrm>
        </p:spPr>
        <p:txBody>
          <a:bodyPr>
            <a:normAutofit/>
          </a:bodyPr>
          <a:lstStyle/>
          <a:p>
            <a:r>
              <a:rPr lang="en-US" sz="3600" b="1" dirty="0"/>
              <a:t>5. DEPLOYMENT CHALLENGES (STREAMLIT)</a:t>
            </a:r>
            <a:br>
              <a:rPr lang="en-US" b="1" dirty="0"/>
            </a:br>
            <a:r>
              <a:rPr lang="en-US" sz="3600" b="1" dirty="0"/>
              <a:t>LATENCY ISSUES:</a:t>
            </a:r>
            <a:r>
              <a:rPr lang="en-US" sz="3600" dirty="0"/>
              <a:t> </a:t>
            </a:r>
            <a:r>
              <a:rPr lang="en-US" sz="3100" dirty="0"/>
              <a:t>REAL-TIME OBJECT DETECTION MAY SLOW DOWN DUE TO LARGE IMAGE SIZES.</a:t>
            </a:r>
            <a:br>
              <a:rPr lang="en-US" sz="3100" dirty="0"/>
            </a:br>
            <a:br>
              <a:rPr lang="en-US" sz="3100" dirty="0"/>
            </a:br>
            <a:r>
              <a:rPr lang="en-US" sz="3600" b="1" dirty="0"/>
              <a:t>USER-FRIENDLY INTERFACE:</a:t>
            </a:r>
            <a:r>
              <a:rPr lang="en-US" sz="3600" dirty="0"/>
              <a:t> </a:t>
            </a:r>
            <a:r>
              <a:rPr lang="en-US" sz="3100" dirty="0"/>
              <a:t>ENSURING A SIMPLE AND INTERACTIVE UI FOR NON-TECHNICAL USERS.</a:t>
            </a:r>
            <a:br>
              <a:rPr lang="en-US" sz="3100" dirty="0"/>
            </a:br>
            <a:br>
              <a:rPr lang="en-US" dirty="0"/>
            </a:br>
            <a:r>
              <a:rPr lang="en-US" sz="3600" b="1" dirty="0"/>
              <a:t>INTEGRATION WITH EXISTING SYSTEMS:</a:t>
            </a:r>
            <a:br>
              <a:rPr lang="en-US" sz="3600" b="1" dirty="0"/>
            </a:br>
            <a:r>
              <a:rPr lang="en-US" sz="3100" dirty="0"/>
              <a:t> MANY COMPANIES HAVE LEGACY SAFETY MONITORING SYSTEMS THAT NEED SEAMLESS INTEGRATION.</a:t>
            </a:r>
            <a:br>
              <a:rPr lang="en-US" dirty="0"/>
            </a:br>
            <a:endParaRPr lang="en-IN" dirty="0"/>
          </a:p>
        </p:txBody>
      </p:sp>
      <p:pic>
        <p:nvPicPr>
          <p:cNvPr id="4" name="Picture 3">
            <a:extLst>
              <a:ext uri="{FF2B5EF4-FFF2-40B4-BE49-F238E27FC236}">
                <a16:creationId xmlns:a16="http://schemas.microsoft.com/office/drawing/2014/main" id="{AFA73FF1-2674-61C8-0A01-C673BC70B20B}"/>
              </a:ext>
            </a:extLst>
          </p:cNvPr>
          <p:cNvPicPr>
            <a:picLocks noChangeAspect="1"/>
          </p:cNvPicPr>
          <p:nvPr/>
        </p:nvPicPr>
        <p:blipFill>
          <a:blip r:embed="rId2"/>
          <a:stretch>
            <a:fillRect/>
          </a:stretch>
        </p:blipFill>
        <p:spPr>
          <a:xfrm>
            <a:off x="10287000" y="5910606"/>
            <a:ext cx="1905000" cy="947394"/>
          </a:xfrm>
          <a:prstGeom prst="rect">
            <a:avLst/>
          </a:prstGeom>
        </p:spPr>
      </p:pic>
    </p:spTree>
    <p:extLst>
      <p:ext uri="{BB962C8B-B14F-4D97-AF65-F5344CB8AC3E}">
        <p14:creationId xmlns:p14="http://schemas.microsoft.com/office/powerpoint/2010/main" val="3308400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5500-FE9A-84B4-A0C9-6FE58A35A7B4}"/>
              </a:ext>
            </a:extLst>
          </p:cNvPr>
          <p:cNvSpPr>
            <a:spLocks noGrp="1"/>
          </p:cNvSpPr>
          <p:nvPr>
            <p:ph type="title"/>
          </p:nvPr>
        </p:nvSpPr>
        <p:spPr>
          <a:xfrm>
            <a:off x="838200" y="365125"/>
            <a:ext cx="11171548" cy="5319238"/>
          </a:xfrm>
        </p:spPr>
        <p:txBody>
          <a:bodyPr>
            <a:normAutofit/>
          </a:bodyPr>
          <a:lstStyle/>
          <a:p>
            <a:r>
              <a:rPr lang="en-US" sz="3600" b="1" dirty="0"/>
              <a:t>6. BUSINESS &amp; ECONOMIC CHALLENGES</a:t>
            </a:r>
            <a:br>
              <a:rPr lang="en-US" b="1" dirty="0"/>
            </a:br>
            <a:r>
              <a:rPr lang="en-US" sz="3600" b="1" dirty="0"/>
              <a:t>ADOPTION RESISTANCE:</a:t>
            </a:r>
            <a:r>
              <a:rPr lang="en-US" sz="3600" dirty="0"/>
              <a:t> </a:t>
            </a:r>
            <a:r>
              <a:rPr lang="en-US" sz="3100" dirty="0"/>
              <a:t>EMPLOYEES MAY RESIST AI-BASED MONITORING DUE TO PRIVACY CONCERNS.</a:t>
            </a:r>
            <a:br>
              <a:rPr lang="en-US" sz="3100" dirty="0"/>
            </a:br>
            <a:br>
              <a:rPr lang="en-US" dirty="0"/>
            </a:br>
            <a:r>
              <a:rPr lang="en-US" sz="3600" b="1" dirty="0"/>
              <a:t>COST CONSTRAINTS:</a:t>
            </a:r>
            <a:r>
              <a:rPr lang="en-US" sz="3600" dirty="0"/>
              <a:t> </a:t>
            </a:r>
            <a:r>
              <a:rPr lang="en-US" sz="3100" dirty="0"/>
              <a:t>BALANCING MODEL ACCURACY WHILE KEEPING DEPLOYMENT AND MAINTENANCE COSTS LOW.</a:t>
            </a:r>
            <a:br>
              <a:rPr lang="en-US" sz="3100" dirty="0"/>
            </a:br>
            <a:br>
              <a:rPr lang="en-US" sz="3600" dirty="0"/>
            </a:br>
            <a:r>
              <a:rPr lang="en-US" sz="3600" b="1" dirty="0"/>
              <a:t>REGULATORY COMPLIANCE:</a:t>
            </a:r>
            <a:r>
              <a:rPr lang="en-US" sz="3600" dirty="0"/>
              <a:t> </a:t>
            </a:r>
            <a:r>
              <a:rPr lang="en-US" sz="3100" dirty="0"/>
              <a:t>ENSURING THAT AI MONITORING ADHERES TO WORKPLACE SAFETY REGULATIONS AND LABOR LAWS.</a:t>
            </a:r>
            <a:br>
              <a:rPr lang="en-US" dirty="0"/>
            </a:br>
            <a:endParaRPr lang="en-IN" dirty="0"/>
          </a:p>
        </p:txBody>
      </p:sp>
      <p:pic>
        <p:nvPicPr>
          <p:cNvPr id="4" name="Picture 3">
            <a:extLst>
              <a:ext uri="{FF2B5EF4-FFF2-40B4-BE49-F238E27FC236}">
                <a16:creationId xmlns:a16="http://schemas.microsoft.com/office/drawing/2014/main" id="{9E0FBEB6-48F4-8CC6-DCD0-5C6B569667B0}"/>
              </a:ext>
            </a:extLst>
          </p:cNvPr>
          <p:cNvPicPr>
            <a:picLocks noChangeAspect="1"/>
          </p:cNvPicPr>
          <p:nvPr/>
        </p:nvPicPr>
        <p:blipFill>
          <a:blip r:embed="rId2"/>
          <a:stretch>
            <a:fillRect/>
          </a:stretch>
        </p:blipFill>
        <p:spPr>
          <a:xfrm>
            <a:off x="10287000" y="5886449"/>
            <a:ext cx="1905000" cy="866775"/>
          </a:xfrm>
          <a:prstGeom prst="rect">
            <a:avLst/>
          </a:prstGeom>
        </p:spPr>
      </p:pic>
    </p:spTree>
    <p:extLst>
      <p:ext uri="{BB962C8B-B14F-4D97-AF65-F5344CB8AC3E}">
        <p14:creationId xmlns:p14="http://schemas.microsoft.com/office/powerpoint/2010/main" val="4113571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cxnSp>
        <p:nvCxnSpPr>
          <p:cNvPr id="490" name="Google Shape;490;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491" name="Google Shape;491;p60" descr="Attitudes 2 Animal Cognition Survey – The Anthrozoologist"/>
          <p:cNvPicPr preferRelativeResize="0"/>
          <p:nvPr/>
        </p:nvPicPr>
        <p:blipFill rotWithShape="1">
          <a:blip r:embed="rId3">
            <a:alphaModFix/>
          </a:blip>
          <a:srcRect/>
          <a:stretch/>
        </p:blipFill>
        <p:spPr>
          <a:xfrm>
            <a:off x="0" y="200533"/>
            <a:ext cx="12192000" cy="4182737"/>
          </a:xfrm>
          <a:prstGeom prst="rect">
            <a:avLst/>
          </a:prstGeom>
          <a:noFill/>
          <a:ln>
            <a:noFill/>
          </a:ln>
        </p:spPr>
      </p:pic>
      <p:sp>
        <p:nvSpPr>
          <p:cNvPr id="3" name="TextBox 2">
            <a:extLst>
              <a:ext uri="{FF2B5EF4-FFF2-40B4-BE49-F238E27FC236}">
                <a16:creationId xmlns:a16="http://schemas.microsoft.com/office/drawing/2014/main" id="{29935FF8-7D89-8568-93FF-F4AAEC99501B}"/>
              </a:ext>
            </a:extLst>
          </p:cNvPr>
          <p:cNvSpPr txBox="1"/>
          <p:nvPr/>
        </p:nvSpPr>
        <p:spPr>
          <a:xfrm>
            <a:off x="-1" y="4167567"/>
            <a:ext cx="11907724" cy="2308324"/>
          </a:xfrm>
          <a:prstGeom prst="rect">
            <a:avLst/>
          </a:prstGeom>
          <a:noFill/>
        </p:spPr>
        <p:txBody>
          <a:bodyPr wrap="square">
            <a:spAutoFit/>
          </a:bodyPr>
          <a:lstStyle/>
          <a:p>
            <a:r>
              <a:rPr lang="en-US" sz="2400" dirty="0"/>
              <a:t>IF YOU HAVE ANY QUESTIONS OR NEED FURTHER CLARIFICATION, FEEL FREE TO ASK.</a:t>
            </a:r>
          </a:p>
          <a:p>
            <a:endParaRPr lang="en-US" sz="2400" b="1" dirty="0"/>
          </a:p>
          <a:p>
            <a:r>
              <a:rPr lang="en-US" sz="2400" b="1" dirty="0"/>
              <a:t>PROJECT LEAD: </a:t>
            </a:r>
            <a:r>
              <a:rPr lang="en-US" sz="2400" b="1" dirty="0">
                <a:effectLst/>
                <a:latin typeface="Arial" panose="020B0604020202020204" pitchFamily="34" charset="0"/>
                <a:ea typeface="Arial" panose="020B0604020202020204" pitchFamily="34" charset="0"/>
              </a:rPr>
              <a:t>GAYATRI K</a:t>
            </a:r>
            <a:endParaRPr lang="en-US" sz="2400" b="1" dirty="0"/>
          </a:p>
          <a:p>
            <a:endParaRPr lang="en-US" sz="2400" b="1" dirty="0"/>
          </a:p>
          <a:p>
            <a:r>
              <a:rPr lang="en-US" sz="2400" b="1" dirty="0"/>
              <a:t>PRESENTED BY:MANDEEP SINGH THAKUR</a:t>
            </a:r>
            <a:endParaRPr lang="en-US" sz="2400" dirty="0"/>
          </a:p>
        </p:txBody>
      </p:sp>
      <p:pic>
        <p:nvPicPr>
          <p:cNvPr id="4" name="Picture 3">
            <a:extLst>
              <a:ext uri="{FF2B5EF4-FFF2-40B4-BE49-F238E27FC236}">
                <a16:creationId xmlns:a16="http://schemas.microsoft.com/office/drawing/2014/main" id="{848C4BCC-6461-7FEE-1187-AFF7394F6E56}"/>
              </a:ext>
            </a:extLst>
          </p:cNvPr>
          <p:cNvPicPr>
            <a:picLocks noChangeAspect="1"/>
          </p:cNvPicPr>
          <p:nvPr/>
        </p:nvPicPr>
        <p:blipFill>
          <a:blip r:embed="rId4"/>
          <a:stretch>
            <a:fillRect/>
          </a:stretch>
        </p:blipFill>
        <p:spPr>
          <a:xfrm>
            <a:off x="9597656" y="5237735"/>
            <a:ext cx="2475282" cy="14197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TotalTime>
  <Words>742</Words>
  <Application>Microsoft Office PowerPoint</Application>
  <PresentationFormat>Widescreen</PresentationFormat>
  <Paragraphs>86</Paragraphs>
  <Slides>19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Wingdings</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IMAGE COLLECTION &amp; PREPROCESSING: COLLECTED 540 WORKPLACE SAFETY IMAGES EXTRACTED IMAGES FROM VIDEOS USING OPENCV.  ANNOTATION WITH ROBOFLOW: LABELED SAFETY GEAR (GLOVES, MASK, FULL LAB COAT,HALF LABCOAT, SHOES, GOGGLES, HAIR CAP)  COMPLIANCE = ALL REQUIRED SAFETY GEAR DETECTED          </vt:lpstr>
      <vt:lpstr>PowerPoint Presentation</vt:lpstr>
      <vt:lpstr>PowerPoint Presentation</vt:lpstr>
      <vt:lpstr>PowerPoint Presentation</vt:lpstr>
      <vt:lpstr>PowerPoint Presentation</vt:lpstr>
      <vt:lpstr>1. DATA COLLECTION CHALLENGES LIMITED DATASET: COLLECTING ENOUGH HIGH-QUALITY WORKPLACE IMAGES CAN BE DIFFICULT.  DIVERSITY OF WORK ENVIRONMENTS: DIFFERENT WORKPLACES HAVE VARYING LIGHTING CONDITIONS, ANGLES, AND SAFETY PROTOCOLS.  VIDEO FRAME EXTRACTION ISSUES: EXTRACTING MEANINGFUL FRAMES FROM VIDEOS WHILE AVOIDING REDUNDANCY OR BLURRINESS. </vt:lpstr>
      <vt:lpstr>2. ANNOTATION AND LABELING CHALLENGES MANUAL EFFORT: ANNOTATING IMAGES IN ROBOFLOW IS TIME-CONSUMING.  CLASS IMBALANCE:  SOME SAFETY GEAR ITEMS (E.G., GLOVES, GOGGLES) MIGHT APPEAR LESS FREQUENTLY, LEADING TO BIASED MODEL PERFORMANCE.  COMPLEX SCENES: MULTIPLE WORKERS AND OVERLAPPING OBJECTS CAN MAKE ANNOTATION DIFFICULT </vt:lpstr>
      <vt:lpstr>3.MODEL TRAINING CHALLENGES COMPUTATIONAL REQUIREMENTS: TRAINING YOLOV11N REQUIRES HIGH GPU RESOURCES, WHICH MAY BE COSTLY.  HYPERPARAMETER TUNING: FINDING THE BEST LEARNING RATE, BATCH SIZE, AND EPOCH COUNT FOR OPTIMAL PERFORMANCE.  FALSE POSITIVES &amp; FALSE NEGATIVES: MODEL MIGHT DETECT SAFETY GEAR INCORRECTLY, LEADING TO INACCURATE COMPLIANCE REPORTING. </vt:lpstr>
      <vt:lpstr>4. POSE ESTIMATION CHALLENGES OCCLUSIONS: WORKERS’ BODY PARTS MAY BE BLOCKED BY MACHINERY OR OTHER WORKERS.  INCORRECT POSTURE DETECTION: VARIATIONS IN WORKER MOVEMENTS CAN LEAD TO INCORRECT POSE CLASSIFICATION.  MODEL GENERALIZATION: ENSURING THE MODEL WORKS WELL ACROSS DIFFERENT WORKPLACES AND JOB ROLES. </vt:lpstr>
      <vt:lpstr>5. DEPLOYMENT CHALLENGES (STREAMLIT) LATENCY ISSUES: REAL-TIME OBJECT DETECTION MAY SLOW DOWN DUE TO LARGE IMAGE SIZES.  USER-FRIENDLY INTERFACE: ENSURING A SIMPLE AND INTERACTIVE UI FOR NON-TECHNICAL USERS.  INTEGRATION WITH EXISTING SYSTEMS:  MANY COMPANIES HAVE LEGACY SAFETY MONITORING SYSTEMS THAT NEED SEAMLESS INTEGRATION. </vt:lpstr>
      <vt:lpstr>6. BUSINESS &amp; ECONOMIC CHALLENGES ADOPTION RESISTANCE: EMPLOYEES MAY RESIST AI-BASED MONITORING DUE TO PRIVACY CONCERNS.  COST CONSTRAINTS: BALANCING MODEL ACCURACY WHILE KEEPING DEPLOYMENT AND MAINTENANCE COSTS LOW.  REGULATORY COMPLIANCE: ENSURING THAT AI MONITORING ADHERES TO WORKPLACE SAFETY REGULATIONS AND LABOR LAWS.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BARTHWAL</dc:creator>
  <cp:lastModifiedBy>Thakur, Mandeep Singh</cp:lastModifiedBy>
  <cp:revision>72</cp:revision>
  <dcterms:created xsi:type="dcterms:W3CDTF">2022-02-16T01:47:29Z</dcterms:created>
  <dcterms:modified xsi:type="dcterms:W3CDTF">2025-09-12T12:36:49Z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